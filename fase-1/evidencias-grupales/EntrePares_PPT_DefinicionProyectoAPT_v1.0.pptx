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6858000" cx="12192000"/>
  <p:notesSz cx="6858000" cy="9144000"/>
  <p:embeddedFontLst>
    <p:embeddedFont>
      <p:font typeface="Franklin Gothic"/>
      <p:bold r:id="rId27"/>
    </p:embeddedFont>
    <p:embeddedFont>
      <p:font typeface="Lato"/>
      <p:regular r:id="rId28"/>
      <p:bold r:id="rId29"/>
      <p:italic r:id="rId30"/>
      <p:boldItalic r:id="rId31"/>
    </p:embeddedFont>
    <p:embeddedFont>
      <p:font typeface="Bebas Neue"/>
      <p:regular r:id="rId32"/>
    </p:embeddedFont>
    <p:embeddedFont>
      <p:font typeface="Roboto Condensed"/>
      <p:regular r:id="rId33"/>
      <p:bold r:id="rId34"/>
      <p:italic r:id="rId35"/>
      <p:boldItalic r:id="rId36"/>
    </p:embeddedFont>
    <p:embeddedFont>
      <p:font typeface="Lato Black"/>
      <p:bold r:id="rId37"/>
      <p:boldItalic r:id="rId38"/>
    </p:embeddedFont>
    <p:embeddedFont>
      <p:font typeface="Roboto Mono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43" roundtripDataSignature="AMtx7mjpLCXykXWmc8B4vBp8vi6T8srv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A3635B9-DD8E-4E4A-ADD4-4D54BDAB5AA8}">
  <a:tblStyle styleId="{7A3635B9-DD8E-4E4A-ADD4-4D54BDAB5AA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bold.fntdata"/><Relationship Id="rId20" Type="http://schemas.openxmlformats.org/officeDocument/2006/relationships/slide" Target="slides/slide14.xml"/><Relationship Id="rId42" Type="http://schemas.openxmlformats.org/officeDocument/2006/relationships/font" Target="fonts/RobotoMono-boldItalic.fntdata"/><Relationship Id="rId41" Type="http://schemas.openxmlformats.org/officeDocument/2006/relationships/font" Target="fonts/RobotoMono-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customschemas.google.com/relationships/presentationmetadata" Target="meta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Lato-regular.fntdata"/><Relationship Id="rId27" Type="http://schemas.openxmlformats.org/officeDocument/2006/relationships/font" Target="fonts/FranklinGothic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ato-boldItalic.fntdata"/><Relationship Id="rId30" Type="http://schemas.openxmlformats.org/officeDocument/2006/relationships/font" Target="fonts/Lato-italic.fntdata"/><Relationship Id="rId11" Type="http://schemas.openxmlformats.org/officeDocument/2006/relationships/slide" Target="slides/slide5.xml"/><Relationship Id="rId33" Type="http://schemas.openxmlformats.org/officeDocument/2006/relationships/font" Target="fonts/RobotoCondensed-regular.fntdata"/><Relationship Id="rId10" Type="http://schemas.openxmlformats.org/officeDocument/2006/relationships/slide" Target="slides/slide4.xml"/><Relationship Id="rId32" Type="http://schemas.openxmlformats.org/officeDocument/2006/relationships/font" Target="fonts/BebasNeue-regular.fntdata"/><Relationship Id="rId13" Type="http://schemas.openxmlformats.org/officeDocument/2006/relationships/slide" Target="slides/slide7.xml"/><Relationship Id="rId35" Type="http://schemas.openxmlformats.org/officeDocument/2006/relationships/font" Target="fonts/RobotoCondensed-italic.fntdata"/><Relationship Id="rId12" Type="http://schemas.openxmlformats.org/officeDocument/2006/relationships/slide" Target="slides/slide6.xml"/><Relationship Id="rId34" Type="http://schemas.openxmlformats.org/officeDocument/2006/relationships/font" Target="fonts/RobotoCondensed-bold.fntdata"/><Relationship Id="rId15" Type="http://schemas.openxmlformats.org/officeDocument/2006/relationships/slide" Target="slides/slide9.xml"/><Relationship Id="rId37" Type="http://schemas.openxmlformats.org/officeDocument/2006/relationships/font" Target="fonts/LatoBlack-bold.fntdata"/><Relationship Id="rId14" Type="http://schemas.openxmlformats.org/officeDocument/2006/relationships/slide" Target="slides/slide8.xml"/><Relationship Id="rId36" Type="http://schemas.openxmlformats.org/officeDocument/2006/relationships/font" Target="fonts/RobotoCondensed-boldItalic.fntdata"/><Relationship Id="rId17" Type="http://schemas.openxmlformats.org/officeDocument/2006/relationships/slide" Target="slides/slide11.xml"/><Relationship Id="rId39" Type="http://schemas.openxmlformats.org/officeDocument/2006/relationships/font" Target="fonts/RobotoMono-regular.fntdata"/><Relationship Id="rId16" Type="http://schemas.openxmlformats.org/officeDocument/2006/relationships/slide" Target="slides/slide10.xml"/><Relationship Id="rId38" Type="http://schemas.openxmlformats.org/officeDocument/2006/relationships/font" Target="fonts/LatoBlack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9dc9ab2af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PETER</a:t>
            </a:r>
            <a:endParaRPr/>
          </a:p>
        </p:txBody>
      </p:sp>
      <p:sp>
        <p:nvSpPr>
          <p:cNvPr id="63" name="Google Shape;63;g3f9dc9ab2af_1_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740"/>
              </a:buClr>
              <a:buSzPts val="1100"/>
              <a:buFont typeface="Lato"/>
              <a:buChar char="➔"/>
            </a:pPr>
            <a:r>
              <a:rPr b="1" lang="en-US">
                <a:solidFill>
                  <a:srgbClr val="172740"/>
                </a:solidFill>
                <a:latin typeface="Lato"/>
                <a:ea typeface="Lato"/>
                <a:cs typeface="Lato"/>
                <a:sym typeface="Lato"/>
              </a:rPr>
              <a:t>Nombre:</a:t>
            </a:r>
            <a:r>
              <a:rPr lang="en-US">
                <a:solidFill>
                  <a:srgbClr val="172740"/>
                </a:solidFill>
                <a:latin typeface="Lato"/>
                <a:ea typeface="Lato"/>
                <a:cs typeface="Lato"/>
                <a:sym typeface="Lato"/>
              </a:rPr>
              <a:t> EntrePares, plataforma de colaboración académica</a:t>
            </a:r>
            <a:endParaRPr>
              <a:solidFill>
                <a:srgbClr val="172740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740"/>
              </a:buClr>
              <a:buSzPts val="1100"/>
              <a:buFont typeface="Lato"/>
              <a:buChar char="➔"/>
            </a:pPr>
            <a:r>
              <a:rPr b="1" lang="en-US">
                <a:solidFill>
                  <a:srgbClr val="172740"/>
                </a:solidFill>
                <a:latin typeface="Lato"/>
                <a:ea typeface="Lato"/>
                <a:cs typeface="Lato"/>
                <a:sym typeface="Lato"/>
              </a:rPr>
              <a:t>Objetivo: </a:t>
            </a:r>
            <a:r>
              <a:rPr lang="en-US">
                <a:solidFill>
                  <a:srgbClr val="172740"/>
                </a:solidFill>
                <a:latin typeface="Lato"/>
                <a:ea typeface="Lato"/>
                <a:cs typeface="Lato"/>
                <a:sym typeface="Lato"/>
              </a:rPr>
              <a:t>proporcionar un canal digital especializado para resolver consultas académicas, con un sistema de emparejamiento y de escalamiento.</a:t>
            </a:r>
            <a:endParaRPr>
              <a:solidFill>
                <a:srgbClr val="172740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740"/>
              </a:buClr>
              <a:buSzPts val="1100"/>
              <a:buFont typeface="Lato"/>
              <a:buChar char="➔"/>
            </a:pPr>
            <a:r>
              <a:rPr b="1" lang="en-US">
                <a:solidFill>
                  <a:srgbClr val="172740"/>
                </a:solidFill>
                <a:latin typeface="Lato"/>
                <a:ea typeface="Lato"/>
                <a:cs typeface="Lato"/>
                <a:sym typeface="Lato"/>
              </a:rPr>
              <a:t>Visión:</a:t>
            </a:r>
            <a:r>
              <a:rPr lang="en-US">
                <a:solidFill>
                  <a:srgbClr val="172740"/>
                </a:solidFill>
                <a:latin typeface="Lato"/>
                <a:ea typeface="Lato"/>
                <a:cs typeface="Lato"/>
                <a:sym typeface="Lato"/>
              </a:rPr>
              <a:t> Convertirse en una plataforma de apoyo académico que consolida comunidades estudiantiles</a:t>
            </a:r>
            <a:endParaRPr>
              <a:solidFill>
                <a:srgbClr val="172740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740"/>
              </a:buClr>
              <a:buSzPts val="1100"/>
              <a:buFont typeface="Lato"/>
              <a:buChar char="➔"/>
            </a:pPr>
            <a:r>
              <a:rPr b="1" lang="en-US">
                <a:solidFill>
                  <a:srgbClr val="172740"/>
                </a:solidFill>
                <a:latin typeface="Lato"/>
                <a:ea typeface="Lato"/>
                <a:cs typeface="Lato"/>
                <a:sym typeface="Lato"/>
              </a:rPr>
              <a:t>Misión: </a:t>
            </a:r>
            <a:r>
              <a:rPr lang="en-US">
                <a:solidFill>
                  <a:srgbClr val="172740"/>
                </a:solidFill>
                <a:latin typeface="Lato"/>
                <a:ea typeface="Lato"/>
                <a:cs typeface="Lato"/>
                <a:sym typeface="Lato"/>
              </a:rPr>
              <a:t>Optimizar la resolución de dudas y la carga docente con una plataforma basada en competencias y reputación</a:t>
            </a:r>
            <a:endParaRPr>
              <a:solidFill>
                <a:srgbClr val="172740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740"/>
              </a:buClr>
              <a:buSzPts val="1100"/>
              <a:buFont typeface="Lato"/>
              <a:buChar char="➔"/>
            </a:pPr>
            <a:r>
              <a:rPr b="1" lang="en-US">
                <a:solidFill>
                  <a:srgbClr val="172740"/>
                </a:solidFill>
                <a:latin typeface="Lato"/>
                <a:ea typeface="Lato"/>
                <a:cs typeface="Lato"/>
                <a:sym typeface="Lato"/>
              </a:rPr>
              <a:t>Área de desempeño:</a:t>
            </a:r>
            <a:r>
              <a:rPr lang="en-US">
                <a:solidFill>
                  <a:srgbClr val="172740"/>
                </a:solidFill>
                <a:latin typeface="Lato"/>
                <a:ea typeface="Lato"/>
                <a:cs typeface="Lato"/>
                <a:sym typeface="Lato"/>
              </a:rPr>
              <a:t> Desarrollo de aplicaciónes móviles y tecnologías aplicadas a la educación</a:t>
            </a:r>
            <a:endParaRPr>
              <a:solidFill>
                <a:srgbClr val="172740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740"/>
              </a:buClr>
              <a:buSzPts val="1100"/>
              <a:buFont typeface="Lato"/>
              <a:buChar char="➔"/>
            </a:pPr>
            <a:r>
              <a:rPr b="1" lang="en-US">
                <a:solidFill>
                  <a:srgbClr val="172740"/>
                </a:solidFill>
                <a:latin typeface="Lato"/>
                <a:ea typeface="Lato"/>
                <a:cs typeface="Lato"/>
                <a:sym typeface="Lato"/>
              </a:rPr>
              <a:t>Usuario final:</a:t>
            </a:r>
            <a:r>
              <a:rPr lang="en-US">
                <a:solidFill>
                  <a:srgbClr val="172740"/>
                </a:solidFill>
                <a:latin typeface="Lato"/>
                <a:ea typeface="Lato"/>
                <a:cs typeface="Lato"/>
                <a:sym typeface="Lato"/>
              </a:rPr>
              <a:t> estudiantes de primer año y tutores de cuarto año de educación superior</a:t>
            </a:r>
            <a:endParaRPr>
              <a:solidFill>
                <a:srgbClr val="17274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>
              <a:solidFill>
                <a:srgbClr val="548DD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81899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" name="Google Shape;6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9dc9ab2a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IGNACIO</a:t>
            </a:r>
            <a:endParaRPr/>
          </a:p>
        </p:txBody>
      </p:sp>
      <p:sp>
        <p:nvSpPr>
          <p:cNvPr id="75" name="Google Shape;75;g3f9dc9ab2af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9d9a4e2e0_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" name="Google Shape;80;g3f9d9a4e2e0_1_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9dc9ab2af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PETER</a:t>
            </a:r>
            <a:endParaRPr/>
          </a:p>
        </p:txBody>
      </p:sp>
      <p:sp>
        <p:nvSpPr>
          <p:cNvPr id="87" name="Google Shape;87;g3f9dc9ab2af_1_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9dc9ab2af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IGNACIO</a:t>
            </a:r>
            <a:endParaRPr/>
          </a:p>
        </p:txBody>
      </p:sp>
      <p:sp>
        <p:nvSpPr>
          <p:cNvPr id="99" name="Google Shape;99;g3f9dc9ab2af_1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9dc9ab2af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PETER</a:t>
            </a:r>
            <a:endParaRPr/>
          </a:p>
        </p:txBody>
      </p:sp>
      <p:sp>
        <p:nvSpPr>
          <p:cNvPr id="111" name="Google Shape;111;g3f9dc9ab2af_1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9dc9ab2af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Ign</a:t>
            </a:r>
            <a:r>
              <a:rPr lang="en-US"/>
              <a:t>acio </a:t>
            </a:r>
            <a:endParaRPr/>
          </a:p>
        </p:txBody>
      </p:sp>
      <p:sp>
        <p:nvSpPr>
          <p:cNvPr id="124" name="Google Shape;124;g3f9dc9ab2af_1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9d9a4e2e0_1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IGNACIO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Calcular trabajo autónom teórico -&gt; Dividir por 2 para los que están en práctica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Las horas finales que se obtengan -&gt; * 0,7 dado en los casos de trabajo no productivo o de descansos, etc, porque nadie trabaja las 8 horas de corrido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Evaluar si las horas son posibles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Trabajo autónomo teórico: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40h * 18 = 720h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20h * 18 = 360h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SP = Sin práctica / CP = Con práctica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2SP = 1 440h → ESPERABLE: *0,85 = 1 224h /→</a:t>
            </a:r>
            <a:r>
              <a:rPr lang="en-US">
                <a:solidFill>
                  <a:schemeClr val="dk1"/>
                </a:solidFill>
              </a:rPr>
              <a:t>REALISTA</a:t>
            </a:r>
            <a:r>
              <a:rPr lang="en-US"/>
              <a:t> </a:t>
            </a:r>
            <a:r>
              <a:rPr lang="en-US">
                <a:solidFill>
                  <a:schemeClr val="dk1"/>
                </a:solidFill>
              </a:rPr>
              <a:t>*0.75 = 1 080h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1SP + 1CP = 1 080h </a:t>
            </a:r>
            <a:r>
              <a:rPr lang="en-US">
                <a:solidFill>
                  <a:schemeClr val="dk1"/>
                </a:solidFill>
              </a:rPr>
              <a:t>→ ESPERABLE: *0,85 = 918h /→REALISTA *0.75 = 810h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2CP = 720h </a:t>
            </a:r>
            <a:r>
              <a:rPr lang="en-US">
                <a:solidFill>
                  <a:schemeClr val="dk1"/>
                </a:solidFill>
              </a:rPr>
              <a:t>→ ESPERABLE: *0,85 = 612h /→ REALISTA *0.75 = 540h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420h - 370h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9" name="Google Shape;129;g3f9d9a4e2e0_1_8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9d9a4e2e0_1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PETER</a:t>
            </a:r>
            <a:endParaRPr/>
          </a:p>
        </p:txBody>
      </p:sp>
      <p:sp>
        <p:nvSpPr>
          <p:cNvPr id="136" name="Google Shape;136;g3f9d9a4e2e0_1_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9d9a4e2e0_1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PETER</a:t>
            </a:r>
            <a:endParaRPr/>
          </a:p>
        </p:txBody>
      </p:sp>
      <p:sp>
        <p:nvSpPr>
          <p:cNvPr id="142" name="Google Shape;142;g3f9d9a4e2e0_1_10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9dc9ab2af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IGNACIO</a:t>
            </a:r>
            <a:endParaRPr/>
          </a:p>
        </p:txBody>
      </p:sp>
      <p:sp>
        <p:nvSpPr>
          <p:cNvPr id="148" name="Google Shape;148;g3f9dc9ab2af_1_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IGNACIO</a:t>
            </a:r>
            <a:endParaRPr/>
          </a:p>
        </p:txBody>
      </p:sp>
      <p:sp>
        <p:nvSpPr>
          <p:cNvPr id="153" name="Google Shape;153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9dc9ab2af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g3f9dc9ab2af_1_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9b1df15d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5" name="Google Shape;205;g3f9b1df15de_0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9dc9ab2af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g3f9dc9ab2af_1_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/>
          <p:nvPr/>
        </p:nvSpPr>
        <p:spPr>
          <a:xfrm flipH="1">
            <a:off x="-1" y="0"/>
            <a:ext cx="6172783" cy="6858000"/>
          </a:xfrm>
          <a:custGeom>
            <a:rect b="b" l="l" r="r" t="t"/>
            <a:pathLst>
              <a:path extrusionOk="0" h="6858000" w="6172782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" y="11959"/>
            <a:ext cx="6024155" cy="6840855"/>
          </a:xfrm>
          <a:custGeom>
            <a:rect b="b" l="l" r="r" t="t"/>
            <a:pathLst>
              <a:path extrusionOk="0" h="6858000" w="6024154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12" name="Google Shape;1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20165" y="212271"/>
            <a:ext cx="4997684" cy="586221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8"/>
          <p:cNvSpPr txBox="1"/>
          <p:nvPr>
            <p:ph idx="1" type="subTitle"/>
          </p:nvPr>
        </p:nvSpPr>
        <p:spPr>
          <a:xfrm>
            <a:off x="7046267" y="5620875"/>
            <a:ext cx="4805200" cy="873900"/>
          </a:xfrm>
          <a:prstGeom prst="rect">
            <a:avLst/>
          </a:prstGeom>
          <a:solidFill>
            <a:srgbClr val="DE3075"/>
          </a:solidFill>
          <a:ln>
            <a:noFill/>
          </a:ln>
        </p:spPr>
        <p:txBody>
          <a:bodyPr anchorCtr="0" anchor="t" bIns="0" lIns="91425" spcFirstLastPara="1" rIns="182875" wrap="square" tIns="0">
            <a:no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b="1"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1" sz="4800">
                <a:solidFill>
                  <a:srgbClr val="FFFFFF"/>
                </a:solidFill>
              </a:defRPr>
            </a:lvl2pPr>
            <a:lvl3pPr lvl="2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4800">
                <a:solidFill>
                  <a:srgbClr val="FFFFFF"/>
                </a:solidFill>
              </a:defRPr>
            </a:lvl3pPr>
            <a:lvl4pPr lvl="3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4800">
                <a:solidFill>
                  <a:srgbClr val="FFFFFF"/>
                </a:solidFill>
              </a:defRPr>
            </a:lvl4pPr>
            <a:lvl5pPr lvl="4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b="1" sz="4800">
                <a:solidFill>
                  <a:srgbClr val="FFFFFF"/>
                </a:solidFill>
              </a:defRPr>
            </a:lvl5pPr>
            <a:lvl6pPr lvl="5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b="1" sz="4800">
                <a:solidFill>
                  <a:srgbClr val="FFFFFF"/>
                </a:solidFill>
              </a:defRPr>
            </a:lvl6pPr>
            <a:lvl7pPr lvl="6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b="1" sz="4800">
                <a:solidFill>
                  <a:srgbClr val="FFFFFF"/>
                </a:solidFill>
              </a:defRPr>
            </a:lvl7pPr>
            <a:lvl8pPr lvl="7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b="1" sz="4800">
                <a:solidFill>
                  <a:srgbClr val="FFFFFF"/>
                </a:solidFill>
              </a:defRPr>
            </a:lvl8pPr>
            <a:lvl9pPr lvl="8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600"/>
              <a:buNone/>
              <a:defRPr b="1" sz="4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type="title"/>
          </p:nvPr>
        </p:nvSpPr>
        <p:spPr>
          <a:xfrm>
            <a:off x="5325033" y="2487700"/>
            <a:ext cx="6526400" cy="2891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6600"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1">
  <p:cSld name="TITLE_4_1_1">
    <p:bg>
      <p:bgPr>
        <a:solidFill>
          <a:schemeClr val="dk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03076" y="186298"/>
            <a:ext cx="5082864" cy="60130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" name="Google Shape;17;p19"/>
          <p:cNvGrpSpPr/>
          <p:nvPr/>
        </p:nvGrpSpPr>
        <p:grpSpPr>
          <a:xfrm>
            <a:off x="1" y="-124"/>
            <a:ext cx="6471553" cy="5740374"/>
            <a:chOff x="0" y="-126"/>
            <a:chExt cx="4554438" cy="5386482"/>
          </a:xfrm>
        </p:grpSpPr>
        <p:sp>
          <p:nvSpPr>
            <p:cNvPr id="18" name="Google Shape;18;p19"/>
            <p:cNvSpPr/>
            <p:nvPr/>
          </p:nvSpPr>
          <p:spPr>
            <a:xfrm flipH="1" rot="10800000">
              <a:off x="0" y="-126"/>
              <a:ext cx="4554438" cy="5386482"/>
            </a:xfrm>
            <a:custGeom>
              <a:rect b="b" l="l" r="r" t="t"/>
              <a:pathLst>
                <a:path extrusionOk="0" h="6374535" w="5389868">
                  <a:moveTo>
                    <a:pt x="620377" y="6374535"/>
                  </a:moveTo>
                  <a:lnTo>
                    <a:pt x="3459520" y="6374535"/>
                  </a:lnTo>
                  <a:lnTo>
                    <a:pt x="3638761" y="6288190"/>
                  </a:lnTo>
                  <a:cubicBezTo>
                    <a:pt x="4681799" y="5721578"/>
                    <a:pt x="5389868" y="4616487"/>
                    <a:pt x="5389868" y="3346018"/>
                  </a:cubicBezTo>
                  <a:cubicBezTo>
                    <a:pt x="5389868" y="1498063"/>
                    <a:pt x="3891805" y="0"/>
                    <a:pt x="2043850" y="0"/>
                  </a:cubicBezTo>
                  <a:cubicBezTo>
                    <a:pt x="1336430" y="0"/>
                    <a:pt x="680285" y="219535"/>
                    <a:pt x="139826" y="594192"/>
                  </a:cubicBezTo>
                  <a:lnTo>
                    <a:pt x="0" y="700065"/>
                  </a:lnTo>
                  <a:lnTo>
                    <a:pt x="0" y="5991971"/>
                  </a:lnTo>
                  <a:lnTo>
                    <a:pt x="139827" y="6097845"/>
                  </a:lnTo>
                  <a:cubicBezTo>
                    <a:pt x="217035" y="6151367"/>
                    <a:pt x="296605" y="6201724"/>
                    <a:pt x="378347" y="6248727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Una caricatura de una ciudad&#10;&#10;Descripción generada automáticamente" id="19" name="Google Shape;19;p19"/>
            <p:cNvPicPr preferRelativeResize="0"/>
            <p:nvPr/>
          </p:nvPicPr>
          <p:blipFill rotWithShape="1">
            <a:blip r:embed="rId3">
              <a:alphaModFix/>
            </a:blip>
            <a:srcRect b="0" l="9870" r="6482" t="0"/>
            <a:stretch/>
          </p:blipFill>
          <p:spPr>
            <a:xfrm>
              <a:off x="1" y="-1"/>
              <a:ext cx="4423169" cy="5247982"/>
            </a:xfrm>
            <a:custGeom>
              <a:rect b="b" l="l" r="r" t="t"/>
              <a:pathLst>
                <a:path extrusionOk="0" h="6210629" w="5234519">
                  <a:moveTo>
                    <a:pt x="1082595" y="0"/>
                  </a:moveTo>
                  <a:lnTo>
                    <a:pt x="3027450" y="0"/>
                  </a:lnTo>
                  <a:lnTo>
                    <a:pt x="3291029" y="96471"/>
                  </a:lnTo>
                  <a:cubicBezTo>
                    <a:pt x="4433137" y="579542"/>
                    <a:pt x="5234519" y="1710443"/>
                    <a:pt x="5234519" y="3028517"/>
                  </a:cubicBezTo>
                  <a:cubicBezTo>
                    <a:pt x="5234519" y="4785949"/>
                    <a:pt x="3809839" y="6210629"/>
                    <a:pt x="2052407" y="6210629"/>
                  </a:cubicBezTo>
                  <a:cubicBezTo>
                    <a:pt x="1283531" y="6210629"/>
                    <a:pt x="578345" y="5937936"/>
                    <a:pt x="28288" y="5483989"/>
                  </a:cubicBezTo>
                  <a:lnTo>
                    <a:pt x="0" y="5458279"/>
                  </a:lnTo>
                  <a:lnTo>
                    <a:pt x="0" y="598754"/>
                  </a:lnTo>
                  <a:lnTo>
                    <a:pt x="28288" y="573044"/>
                  </a:lnTo>
                  <a:cubicBezTo>
                    <a:pt x="303317" y="346070"/>
                    <a:pt x="617127" y="164410"/>
                    <a:pt x="958290" y="39494"/>
                  </a:cubicBezTo>
                  <a:close/>
                </a:path>
              </a:pathLst>
            </a:custGeom>
            <a:noFill/>
            <a:ln>
              <a:noFill/>
            </a:ln>
          </p:spPr>
        </p:pic>
      </p:grpSp>
      <p:sp>
        <p:nvSpPr>
          <p:cNvPr id="20" name="Google Shape;20;p19"/>
          <p:cNvSpPr txBox="1"/>
          <p:nvPr>
            <p:ph type="title"/>
          </p:nvPr>
        </p:nvSpPr>
        <p:spPr>
          <a:xfrm>
            <a:off x="4006100" y="3476150"/>
            <a:ext cx="79944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1">
  <p:cSld name="Título y objetos 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/>
          <p:nvPr/>
        </p:nvSpPr>
        <p:spPr>
          <a:xfrm>
            <a:off x="1830633" y="212725"/>
            <a:ext cx="6408499" cy="8130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3" name="Google Shape;23;p20"/>
          <p:cNvSpPr/>
          <p:nvPr/>
        </p:nvSpPr>
        <p:spPr>
          <a:xfrm>
            <a:off x="1027800" y="212725"/>
            <a:ext cx="1204800" cy="813000"/>
          </a:xfrm>
          <a:prstGeom prst="parallelogram">
            <a:avLst>
              <a:gd fmla="val 45310" name="adj"/>
            </a:avLst>
          </a:prstGeom>
          <a:solidFill>
            <a:srgbClr val="8189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0"/>
          <p:cNvSpPr/>
          <p:nvPr/>
        </p:nvSpPr>
        <p:spPr>
          <a:xfrm>
            <a:off x="195229" y="212725"/>
            <a:ext cx="1204800" cy="8130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chemeClr val="dk2"/>
              </a:gs>
              <a:gs pos="100000">
                <a:schemeClr val="dk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20"/>
          <p:cNvSpPr txBox="1"/>
          <p:nvPr>
            <p:ph type="title"/>
          </p:nvPr>
        </p:nvSpPr>
        <p:spPr>
          <a:xfrm>
            <a:off x="2351599" y="212725"/>
            <a:ext cx="5717580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26" name="Google Shape;26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39133" y="389414"/>
            <a:ext cx="3662271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20"/>
          <p:cNvSpPr txBox="1"/>
          <p:nvPr>
            <p:ph idx="1" type="body"/>
          </p:nvPr>
        </p:nvSpPr>
        <p:spPr>
          <a:xfrm>
            <a:off x="392200" y="1218600"/>
            <a:ext cx="114076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24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20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10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28" name="Google Shape;28;p20"/>
          <p:cNvSpPr txBox="1"/>
          <p:nvPr/>
        </p:nvSpPr>
        <p:spPr>
          <a:xfrm>
            <a:off x="9220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12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3">
  <p:cSld name="OBJECT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/>
          <p:nvPr/>
        </p:nvSpPr>
        <p:spPr>
          <a:xfrm>
            <a:off x="1027800" y="212725"/>
            <a:ext cx="1204800" cy="813000"/>
          </a:xfrm>
          <a:prstGeom prst="parallelogram">
            <a:avLst>
              <a:gd fmla="val 45310" name="adj"/>
            </a:avLst>
          </a:prstGeom>
          <a:solidFill>
            <a:srgbClr val="7027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1"/>
          <p:cNvSpPr/>
          <p:nvPr/>
        </p:nvSpPr>
        <p:spPr>
          <a:xfrm>
            <a:off x="195229" y="212725"/>
            <a:ext cx="1204800" cy="8130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" name="Google Shape;32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39133" y="389414"/>
            <a:ext cx="3662271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1"/>
          <p:cNvSpPr txBox="1"/>
          <p:nvPr>
            <p:ph idx="1" type="body"/>
          </p:nvPr>
        </p:nvSpPr>
        <p:spPr>
          <a:xfrm>
            <a:off x="392200" y="1218600"/>
            <a:ext cx="114076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24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20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10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34" name="Google Shape;34;p21"/>
          <p:cNvSpPr/>
          <p:nvPr/>
        </p:nvSpPr>
        <p:spPr>
          <a:xfrm>
            <a:off x="1830633" y="212725"/>
            <a:ext cx="6408499" cy="8130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5" name="Google Shape;35;p21"/>
          <p:cNvSpPr txBox="1"/>
          <p:nvPr>
            <p:ph type="title"/>
          </p:nvPr>
        </p:nvSpPr>
        <p:spPr>
          <a:xfrm>
            <a:off x="2351599" y="212725"/>
            <a:ext cx="5717580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/>
        </p:nvSpPr>
        <p:spPr>
          <a:xfrm>
            <a:off x="9220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12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solidFill>
          <a:schemeClr val="dk2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2"/>
          <p:cNvSpPr txBox="1"/>
          <p:nvPr>
            <p:ph idx="1" type="body"/>
          </p:nvPr>
        </p:nvSpPr>
        <p:spPr>
          <a:xfrm>
            <a:off x="747184" y="2634922"/>
            <a:ext cx="10697633" cy="227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○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5pPr>
            <a:lvl6pPr indent="-3048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6pPr>
            <a:lvl7pPr indent="-2921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/>
            </a:lvl7pPr>
            <a:lvl8pPr indent="-2794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Char char="•"/>
              <a:defRPr/>
            </a:lvl8pPr>
            <a:lvl9pPr indent="-2667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600"/>
              <a:buChar char="•"/>
              <a:defRPr/>
            </a:lvl9pPr>
          </a:lstStyle>
          <a:p/>
        </p:txBody>
      </p:sp>
      <p:pic>
        <p:nvPicPr>
          <p:cNvPr id="39" name="Google Shape;39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39133" y="392751"/>
            <a:ext cx="3678716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2"/>
          <p:cNvSpPr txBox="1"/>
          <p:nvPr>
            <p:ph idx="2" type="body"/>
          </p:nvPr>
        </p:nvSpPr>
        <p:spPr>
          <a:xfrm>
            <a:off x="747184" y="1632286"/>
            <a:ext cx="10697633" cy="6657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○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5pPr>
            <a:lvl6pPr indent="-3048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6pPr>
            <a:lvl7pPr indent="-2921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/>
            </a:lvl7pPr>
            <a:lvl8pPr indent="-2794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Char char="•"/>
              <a:defRPr/>
            </a:lvl8pPr>
            <a:lvl9pPr indent="-2667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600"/>
              <a:buChar char="•"/>
              <a:defRPr/>
            </a:lvl9pPr>
          </a:lstStyle>
          <a:p/>
        </p:txBody>
      </p:sp>
      <p:sp>
        <p:nvSpPr>
          <p:cNvPr id="41" name="Google Shape;41;p22"/>
          <p:cNvSpPr/>
          <p:nvPr/>
        </p:nvSpPr>
        <p:spPr>
          <a:xfrm>
            <a:off x="1027800" y="212725"/>
            <a:ext cx="1204800" cy="813000"/>
          </a:xfrm>
          <a:prstGeom prst="parallelogram">
            <a:avLst>
              <a:gd fmla="val 4531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2"/>
          <p:cNvSpPr/>
          <p:nvPr/>
        </p:nvSpPr>
        <p:spPr>
          <a:xfrm>
            <a:off x="195229" y="212725"/>
            <a:ext cx="1204800" cy="8130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chemeClr val="dk2"/>
              </a:gs>
              <a:gs pos="65000">
                <a:schemeClr val="lt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2"/>
          <p:cNvSpPr/>
          <p:nvPr/>
        </p:nvSpPr>
        <p:spPr>
          <a:xfrm>
            <a:off x="1830633" y="212725"/>
            <a:ext cx="6408499" cy="813000"/>
          </a:xfrm>
          <a:prstGeom prst="parallelogram">
            <a:avLst>
              <a:gd fmla="val 4531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44" name="Google Shape;44;p22"/>
          <p:cNvSpPr txBox="1"/>
          <p:nvPr>
            <p:ph type="title"/>
          </p:nvPr>
        </p:nvSpPr>
        <p:spPr>
          <a:xfrm>
            <a:off x="2351599" y="212725"/>
            <a:ext cx="5717580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3"/>
          <p:cNvSpPr txBox="1"/>
          <p:nvPr/>
        </p:nvSpPr>
        <p:spPr>
          <a:xfrm>
            <a:off x="9220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12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ólo el título">
  <p:cSld name="1_Sólo el título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-B.png" id="48" name="Google Shape;48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47311" y="6287016"/>
            <a:ext cx="2249944" cy="377364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24"/>
          <p:cNvSpPr/>
          <p:nvPr/>
        </p:nvSpPr>
        <p:spPr>
          <a:xfrm>
            <a:off x="782438" y="385379"/>
            <a:ext cx="10778941" cy="700690"/>
          </a:xfrm>
          <a:prstGeom prst="rect">
            <a:avLst/>
          </a:prstGeom>
          <a:solidFill>
            <a:srgbClr val="4A216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4"/>
          <p:cNvSpPr/>
          <p:nvPr/>
        </p:nvSpPr>
        <p:spPr>
          <a:xfrm>
            <a:off x="5490464" y="297797"/>
            <a:ext cx="1541517" cy="166414"/>
          </a:xfrm>
          <a:prstGeom prst="rect">
            <a:avLst/>
          </a:prstGeom>
          <a:solidFill>
            <a:srgbClr val="4A2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4"/>
          <p:cNvSpPr/>
          <p:nvPr/>
        </p:nvSpPr>
        <p:spPr>
          <a:xfrm>
            <a:off x="7019439" y="297797"/>
            <a:ext cx="1541517" cy="166414"/>
          </a:xfrm>
          <a:prstGeom prst="rect">
            <a:avLst/>
          </a:prstGeom>
          <a:solidFill>
            <a:srgbClr val="5A357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4"/>
          <p:cNvSpPr/>
          <p:nvPr/>
        </p:nvSpPr>
        <p:spPr>
          <a:xfrm>
            <a:off x="8548414" y="297797"/>
            <a:ext cx="1541517" cy="166414"/>
          </a:xfrm>
          <a:prstGeom prst="rect">
            <a:avLst/>
          </a:prstGeom>
          <a:solidFill>
            <a:srgbClr val="6D4E8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4"/>
          <p:cNvSpPr/>
          <p:nvPr/>
        </p:nvSpPr>
        <p:spPr>
          <a:xfrm>
            <a:off x="10019862" y="297797"/>
            <a:ext cx="1541517" cy="166414"/>
          </a:xfrm>
          <a:prstGeom prst="rect">
            <a:avLst/>
          </a:prstGeom>
          <a:solidFill>
            <a:srgbClr val="7D66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.jpg" id="54" name="Google Shape;5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2438" y="6225297"/>
            <a:ext cx="2656857" cy="446269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24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»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○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5pPr>
            <a:lvl6pPr indent="-3048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6pPr>
            <a:lvl7pPr indent="-2921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/>
            </a:lvl7pPr>
            <a:lvl8pPr indent="-2794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Char char="•"/>
              <a:defRPr/>
            </a:lvl8pPr>
            <a:lvl9pPr indent="-2667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6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idx="1" type="body"/>
          </p:nvPr>
        </p:nvSpPr>
        <p:spPr>
          <a:xfrm>
            <a:off x="392200" y="1218600"/>
            <a:ext cx="114076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b="0" i="0" sz="24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b="0" i="0" sz="20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b="0" i="0" sz="1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b="0" i="0" sz="1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b="0" i="0" sz="14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b="0"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b="0" i="0" sz="10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b="0" i="0" sz="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b="0"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2" type="sldNum"/>
          </p:nvPr>
        </p:nvSpPr>
        <p:spPr>
          <a:xfrm>
            <a:off x="9220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" name="Google Shape;8;p17"/>
          <p:cNvSpPr txBox="1"/>
          <p:nvPr>
            <p:ph type="title"/>
          </p:nvPr>
        </p:nvSpPr>
        <p:spPr>
          <a:xfrm>
            <a:off x="2351600" y="212725"/>
            <a:ext cx="9002400" cy="8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/>
          <p:nvPr>
            <p:ph type="title"/>
          </p:nvPr>
        </p:nvSpPr>
        <p:spPr>
          <a:xfrm>
            <a:off x="6096000" y="2404975"/>
            <a:ext cx="5948400" cy="428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br>
              <a:rPr lang="en-US" sz="4000"/>
            </a:br>
            <a:br>
              <a:rPr lang="en-US" sz="4000"/>
            </a:br>
            <a:r>
              <a:rPr lang="en-US" sz="4400"/>
              <a:t>Fase 1 Proyecto APT: Definición y Planificación</a:t>
            </a:r>
            <a:r>
              <a:rPr lang="en-US" sz="4000"/>
              <a:t> </a:t>
            </a:r>
            <a:br>
              <a:rPr lang="en-US" sz="4000"/>
            </a:br>
            <a:br>
              <a:rPr lang="en-US" sz="4000"/>
            </a:br>
            <a:br>
              <a:rPr lang="en-US" sz="2000"/>
            </a:br>
            <a:r>
              <a:rPr b="1" lang="en-US" sz="2000"/>
              <a:t>Docente: </a:t>
            </a:r>
            <a:r>
              <a:rPr lang="en-US" sz="2000"/>
              <a:t>Reginaldo Salinas Bruna</a:t>
            </a:r>
            <a:br>
              <a:rPr lang="en-US" sz="2000"/>
            </a:br>
            <a:endParaRPr sz="2000"/>
          </a:p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b="1" lang="en-US" sz="2000"/>
              <a:t>Grupo Nº</a:t>
            </a:r>
            <a:r>
              <a:rPr lang="en-US" sz="2000"/>
              <a:t> 2</a:t>
            </a:r>
            <a:endParaRPr sz="2000"/>
          </a:p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b="1" lang="en-US" sz="2000"/>
              <a:t>Integrantes:</a:t>
            </a:r>
            <a:br>
              <a:rPr lang="en-US" sz="2000"/>
            </a:br>
            <a:r>
              <a:rPr lang="en-US" sz="2000"/>
              <a:t>Peter Ilich De la Vega Mena</a:t>
            </a:r>
            <a:endParaRPr sz="2000"/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2000"/>
              <a:t>Ignacio Antonio González Pérez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9dc9ab2af_1_29"/>
          <p:cNvSpPr txBox="1"/>
          <p:nvPr>
            <p:ph type="title"/>
          </p:nvPr>
        </p:nvSpPr>
        <p:spPr>
          <a:xfrm>
            <a:off x="6096000" y="4527700"/>
            <a:ext cx="5172000" cy="1603200"/>
          </a:xfrm>
          <a:prstGeom prst="rect">
            <a:avLst/>
          </a:prstGeom>
          <a:solidFill>
            <a:srgbClr val="DE3075">
              <a:alpha val="6431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>
                <a:solidFill>
                  <a:schemeClr val="lt1"/>
                </a:solidFill>
              </a:rPr>
              <a:t>Descripción del proyecto APT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 txBox="1"/>
          <p:nvPr>
            <p:ph type="title"/>
          </p:nvPr>
        </p:nvSpPr>
        <p:spPr>
          <a:xfrm>
            <a:off x="3287700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n-US"/>
              <a:t>Descripción del proyecto</a:t>
            </a:r>
            <a:endParaRPr/>
          </a:p>
        </p:txBody>
      </p:sp>
      <p:sp>
        <p:nvSpPr>
          <p:cNvPr id="71" name="Google Shape;71;p3"/>
          <p:cNvSpPr txBox="1"/>
          <p:nvPr>
            <p:ph idx="1" type="body"/>
          </p:nvPr>
        </p:nvSpPr>
        <p:spPr>
          <a:xfrm>
            <a:off x="902146" y="1103625"/>
            <a:ext cx="47685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b="1"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Entrepares </a:t>
            </a:r>
            <a:endParaRPr b="1"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Plataforma de colaboración académica entre estudiantes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Char char="●"/>
            </a:pPr>
            <a:r>
              <a:rPr b="1"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Objetivo: </a:t>
            </a: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Facilitar la resolución de consultas académicas mediante un sistema de conexión y escalamiento entre estudiantes.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Char char="●"/>
            </a:pPr>
            <a:r>
              <a:rPr b="1"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Visión:</a:t>
            </a: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Consolidar una comunidad de apoyo académico entre pares.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Char char="●"/>
            </a:pPr>
            <a:r>
              <a:rPr b="1"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Misión: </a:t>
            </a: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Facilitar el acceso a apoyo académico según conocimientos, disponibilidad y reputación.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Char char="●"/>
            </a:pPr>
            <a:r>
              <a:rPr b="1"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Área de desempeño:</a:t>
            </a: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Desarrollo de aplicaciones móviles y tecnologías aplicadas a la educacion.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Char char="●"/>
            </a:pPr>
            <a:r>
              <a:rPr b="1"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Usuario final:</a:t>
            </a: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Estudiantes que requieren apoyo y estudiantes tutores.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72" name="Google Shape;72;p3" title="87z_2205_w009_n001_133b_p14_133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94850" y="2484675"/>
            <a:ext cx="4885200" cy="28716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9dc9ab2af_1_0"/>
          <p:cNvSpPr txBox="1"/>
          <p:nvPr>
            <p:ph type="title"/>
          </p:nvPr>
        </p:nvSpPr>
        <p:spPr>
          <a:xfrm>
            <a:off x="6096000" y="4527700"/>
            <a:ext cx="5172000" cy="1603200"/>
          </a:xfrm>
          <a:prstGeom prst="rect">
            <a:avLst/>
          </a:prstGeom>
          <a:solidFill>
            <a:srgbClr val="DE3075">
              <a:alpha val="6431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>
                <a:solidFill>
                  <a:schemeClr val="lt1"/>
                </a:solidFill>
              </a:rPr>
              <a:t>Objetivos del proyecto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9d9a4e2e0_1_96"/>
          <p:cNvSpPr txBox="1"/>
          <p:nvPr>
            <p:ph type="title"/>
          </p:nvPr>
        </p:nvSpPr>
        <p:spPr>
          <a:xfrm>
            <a:off x="3287699" y="212725"/>
            <a:ext cx="4288200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n-US"/>
              <a:t>Objetivos del Proyecto</a:t>
            </a:r>
            <a:endParaRPr/>
          </a:p>
        </p:txBody>
      </p:sp>
      <p:sp>
        <p:nvSpPr>
          <p:cNvPr id="83" name="Google Shape;83;g3f9d9a4e2e0_1_96"/>
          <p:cNvSpPr txBox="1"/>
          <p:nvPr/>
        </p:nvSpPr>
        <p:spPr>
          <a:xfrm>
            <a:off x="710800" y="1210050"/>
            <a:ext cx="5630700" cy="53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Objetivo General</a:t>
            </a:r>
            <a:endParaRPr b="1" i="0" sz="20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Desarrollar una plataforma digital de acompañamiento académico entre pares que facilite la publicación de consultas y la conexión de estudiantes y tutores.</a:t>
            </a:r>
            <a:endParaRPr i="0" sz="18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Objetivos especificos</a:t>
            </a:r>
            <a:endParaRPr b="1" i="0" sz="20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marR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ato"/>
              <a:buChar char="➔"/>
            </a:pPr>
            <a:r>
              <a:rPr i="0" lang="en-US" sz="1800" u="sng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Identificar </a:t>
            </a:r>
            <a:r>
              <a:rPr i="0" lang="en-US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Necesidades y dificultades relacionadas con el acceso al apoyo académico.</a:t>
            </a:r>
            <a:endParaRPr i="0" sz="18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ato"/>
              <a:buChar char="➔"/>
            </a:pPr>
            <a:r>
              <a:rPr i="0" lang="en-US" sz="1800" u="sng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Definir</a:t>
            </a:r>
            <a:r>
              <a:rPr i="0" lang="en-US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Requerimientos y funcionalidades prioritarias para el MVP</a:t>
            </a:r>
            <a:endParaRPr i="0" sz="18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ato"/>
              <a:buChar char="➔"/>
            </a:pPr>
            <a:r>
              <a:rPr i="0" lang="en-US" sz="1800" u="sng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Diseñar</a:t>
            </a:r>
            <a:r>
              <a:rPr i="0" lang="en-US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La arquitectura, modelo de datos y experiencia de usuario de la plataforma</a:t>
            </a:r>
            <a:endParaRPr i="0" sz="18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ato"/>
              <a:buChar char="➔"/>
            </a:pPr>
            <a:r>
              <a:rPr i="0" lang="en-US" sz="1800" u="sng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Desarrollar </a:t>
            </a:r>
            <a:r>
              <a:rPr i="0" lang="en-US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Los módulos de consultas, tutores, solicitudes y seguimiento.</a:t>
            </a:r>
            <a:endParaRPr i="0" sz="18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ato"/>
              <a:buChar char="➔"/>
            </a:pPr>
            <a:r>
              <a:rPr i="0" lang="en-US" sz="1800" u="sng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Validar</a:t>
            </a:r>
            <a:r>
              <a:rPr i="0" lang="en-US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El funcionamiento y usabilidad mediante pruebas con usuarios potenciales </a:t>
            </a:r>
            <a:endParaRPr i="0" sz="18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i="0" sz="15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i="0" sz="15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4" name="Google Shape;84;g3f9d9a4e2e0_1_96" title="como-redactar-objetivos-de-un-proyecto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79025" y="2027125"/>
            <a:ext cx="5067900" cy="3573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9dc9ab2af_1_4"/>
          <p:cNvSpPr txBox="1"/>
          <p:nvPr>
            <p:ph type="title"/>
          </p:nvPr>
        </p:nvSpPr>
        <p:spPr>
          <a:xfrm>
            <a:off x="6096000" y="4527700"/>
            <a:ext cx="5172000" cy="1603200"/>
          </a:xfrm>
          <a:prstGeom prst="rect">
            <a:avLst/>
          </a:prstGeom>
          <a:solidFill>
            <a:srgbClr val="DE3075">
              <a:alpha val="6431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>
                <a:solidFill>
                  <a:schemeClr val="lt1"/>
                </a:solidFill>
              </a:rPr>
              <a:t>Relación con el perfil de egreso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"/>
          <p:cNvSpPr txBox="1"/>
          <p:nvPr>
            <p:ph type="title"/>
          </p:nvPr>
        </p:nvSpPr>
        <p:spPr>
          <a:xfrm>
            <a:off x="3287700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n-US"/>
              <a:t>Relación con Perfil de egreso</a:t>
            </a:r>
            <a:endParaRPr/>
          </a:p>
        </p:txBody>
      </p:sp>
      <p:sp>
        <p:nvSpPr>
          <p:cNvPr id="95" name="Google Shape;95;p5"/>
          <p:cNvSpPr txBox="1"/>
          <p:nvPr/>
        </p:nvSpPr>
        <p:spPr>
          <a:xfrm>
            <a:off x="802950" y="1224175"/>
            <a:ext cx="5712600" cy="55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El proyecto permitirá aplicar competencias de Ingeniería en informática durante el desarrollo de la solución.</a:t>
            </a:r>
            <a:endParaRPr b="0" i="0" sz="16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01 Analizar:</a:t>
            </a:r>
            <a:endParaRPr b="1" i="0" sz="17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7916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Identificar necesidades y levantar requerimientos de usuarios potenciales.</a:t>
            </a:r>
            <a:endParaRPr b="0" i="0" sz="16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7916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02 Diseñar y desarrollar: </a:t>
            </a:r>
            <a:endParaRPr b="1" i="0" sz="17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7916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Construir arquitectura, interfaces, modelo de datos y funcionalidades</a:t>
            </a:r>
            <a:endParaRPr b="0" i="0" sz="16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7916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03 Validar y gestionar :</a:t>
            </a:r>
            <a:endParaRPr b="1" i="0" sz="17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7916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Aplicar pruebas, calidad, seguridad y gestión de proyecto.</a:t>
            </a:r>
            <a:endParaRPr b="0" i="0" sz="16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Competencias involucradas:</a:t>
            </a:r>
            <a:endParaRPr b="1" i="0" sz="17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7916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Análisis y requerimientos - Desarrollo de soluciones tecnológicas- Seguridad de sistemas computacionales- Aseguramiento de la calidad del software - Gestión de proyectos informaticos - Gestion de la información</a:t>
            </a:r>
            <a:endParaRPr b="0" i="0" sz="16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96" name="Google Shape;96;p5" title="6620da2d02ffa63c31d372b9_Perfilde egreso-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2275" y="1684863"/>
            <a:ext cx="4752000" cy="4633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9dc9ab2af_1_9"/>
          <p:cNvSpPr txBox="1"/>
          <p:nvPr>
            <p:ph type="title"/>
          </p:nvPr>
        </p:nvSpPr>
        <p:spPr>
          <a:xfrm>
            <a:off x="6096000" y="4527700"/>
            <a:ext cx="5172000" cy="1603200"/>
          </a:xfrm>
          <a:prstGeom prst="rect">
            <a:avLst/>
          </a:prstGeom>
          <a:solidFill>
            <a:srgbClr val="DE3075">
              <a:alpha val="6431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>
                <a:solidFill>
                  <a:schemeClr val="lt1"/>
                </a:solidFill>
              </a:rPr>
              <a:t>Metodología de trabajo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1"/>
          <p:cNvSpPr txBox="1"/>
          <p:nvPr>
            <p:ph type="title"/>
          </p:nvPr>
        </p:nvSpPr>
        <p:spPr>
          <a:xfrm>
            <a:off x="3287700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n-US"/>
              <a:t>Metodologías de trabajo</a:t>
            </a:r>
            <a:endParaRPr/>
          </a:p>
        </p:txBody>
      </p:sp>
      <p:sp>
        <p:nvSpPr>
          <p:cNvPr id="107" name="Google Shape;107;p11"/>
          <p:cNvSpPr txBox="1"/>
          <p:nvPr/>
        </p:nvSpPr>
        <p:spPr>
          <a:xfrm>
            <a:off x="586175" y="1079400"/>
            <a:ext cx="5574300" cy="5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Desarrollo agil + Kanban </a:t>
            </a:r>
            <a:endParaRPr b="1" i="0" sz="1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El proyecto se desarrollara de manera iterativa e incremental, permitiendo revisar los avances y ajustar la solución durante su construcción.</a:t>
            </a:r>
            <a:endParaRPr b="0" i="0" sz="17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Levantamiento </a:t>
            </a:r>
            <a:endParaRPr b="1" i="0" sz="1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Investigación -  Encuestas - Entrevistas </a:t>
            </a:r>
            <a:endParaRPr b="0" i="0" sz="17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marR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➔"/>
            </a:pPr>
            <a:r>
              <a:rPr b="0" i="0" lang="en-US" sz="17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Requerimientos </a:t>
            </a:r>
            <a:endParaRPr b="0" i="0" sz="17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457200" lvl="0" marL="0" marR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Análisis - Priorización - MVP</a:t>
            </a:r>
            <a:endParaRPr b="0" i="0" sz="17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marR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➔"/>
            </a:pPr>
            <a:r>
              <a:rPr b="0" i="0" lang="en-US" sz="17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Diseño </a:t>
            </a:r>
            <a:endParaRPr b="0" i="0" sz="17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457200" lvl="0" marL="0" marR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UX/UI - Arquitectura - Datos </a:t>
            </a:r>
            <a:endParaRPr b="0" i="0" sz="17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marR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➔"/>
            </a:pPr>
            <a:r>
              <a:rPr b="0" i="0" lang="en-US" sz="17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Desarrollo </a:t>
            </a:r>
            <a:endParaRPr b="0" i="0" sz="17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457200" lvl="0" marL="0" marR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Implementación - Integración</a:t>
            </a:r>
            <a:endParaRPr b="0" i="0" sz="17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marR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➔"/>
            </a:pPr>
            <a:r>
              <a:rPr b="0" i="0" lang="en-US" sz="17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Validacion</a:t>
            </a:r>
            <a:endParaRPr b="0" i="0" sz="17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457200" lvl="0" marL="0" marR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Pruebas - Retroalimentación -  Mejoras </a:t>
            </a:r>
            <a:endParaRPr b="0" i="0" sz="17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* Trabajo colaborativo durante todo el proceso </a:t>
            </a:r>
            <a:endParaRPr b="0" i="0" sz="17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8" name="Google Shape;108;p11" title="Captura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6875" y="1605925"/>
            <a:ext cx="4712400" cy="451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9dc9ab2af_1_14"/>
          <p:cNvSpPr txBox="1"/>
          <p:nvPr>
            <p:ph type="title"/>
          </p:nvPr>
        </p:nvSpPr>
        <p:spPr>
          <a:xfrm>
            <a:off x="6096000" y="4527700"/>
            <a:ext cx="5172000" cy="1603200"/>
          </a:xfrm>
          <a:prstGeom prst="rect">
            <a:avLst/>
          </a:prstGeom>
          <a:solidFill>
            <a:srgbClr val="DE3075">
              <a:alpha val="6431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Plan de trabajo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3"/>
          <p:cNvSpPr txBox="1"/>
          <p:nvPr>
            <p:ph type="title"/>
          </p:nvPr>
        </p:nvSpPr>
        <p:spPr>
          <a:xfrm>
            <a:off x="3287700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n-US"/>
              <a:t>Plan de trabajo</a:t>
            </a:r>
            <a:endParaRPr/>
          </a:p>
        </p:txBody>
      </p:sp>
      <p:graphicFrame>
        <p:nvGraphicFramePr>
          <p:cNvPr id="119" name="Google Shape;119;p13"/>
          <p:cNvGraphicFramePr/>
          <p:nvPr/>
        </p:nvGraphicFramePr>
        <p:xfrm>
          <a:off x="1594575" y="1956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{7A3635B9-DD8E-4E4A-ADD4-4D54BDAB5AA8}</a:tableStyleId>
              </a:tblPr>
              <a:tblGrid>
                <a:gridCol w="3106250"/>
                <a:gridCol w="3106250"/>
                <a:gridCol w="3106250"/>
              </a:tblGrid>
              <a:tr h="91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</a:rPr>
                        <a:t>Fase 1 Planificacion </a:t>
                      </a:r>
                      <a:endParaRPr sz="1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8C8C8C"/>
                        </a:gs>
                        <a:gs pos="100000">
                          <a:srgbClr val="404040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</a:rPr>
                        <a:t>Fase 2 Desarrollo</a:t>
                      </a:r>
                      <a:endParaRPr sz="1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8C8C8C"/>
                        </a:gs>
                        <a:gs pos="100000">
                          <a:srgbClr val="404040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</a:rPr>
                        <a:t>Fase 3 Despliegue </a:t>
                      </a:r>
                      <a:endParaRPr sz="1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8C8C8C"/>
                        </a:gs>
                        <a:gs pos="100000">
                          <a:srgbClr val="404040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</a:tr>
              <a:tr h="500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u="none" cap="none" strike="noStrike"/>
                        <a:t>Semana 1 a Semana 5</a:t>
                      </a:r>
                      <a:endParaRPr sz="16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u="none" cap="none" strike="noStrike"/>
                        <a:t>Semana 6 a Semana 16</a:t>
                      </a:r>
                      <a:endParaRPr sz="16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u="none" cap="none" strike="noStrike"/>
                        <a:t>Semana 17 a Semana 18</a:t>
                      </a:r>
                      <a:endParaRPr sz="16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0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u="none" cap="none" strike="noStrike"/>
                        <a:t>Investigación y levantamiento</a:t>
                      </a:r>
                      <a:endParaRPr sz="16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u="none" cap="none" strike="noStrike"/>
                        <a:t>Desarrollo del MVP</a:t>
                      </a:r>
                      <a:endParaRPr sz="16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u="none" cap="none" strike="noStrike"/>
                        <a:t>Pruebas finales</a:t>
                      </a:r>
                      <a:endParaRPr sz="16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0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u="none" cap="none" strike="noStrike"/>
                        <a:t>Análisis y requerimientos </a:t>
                      </a:r>
                      <a:endParaRPr sz="16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u="none" cap="none" strike="noStrike"/>
                        <a:t>Implementación de tutorías </a:t>
                      </a:r>
                      <a:endParaRPr sz="16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u="none" cap="none" strike="noStrike"/>
                        <a:t>Correcciones</a:t>
                      </a:r>
                      <a:endParaRPr sz="16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0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u="none" cap="none" strike="noStrike"/>
                        <a:t>Diseño UX/UI, arquitectura y datos</a:t>
                      </a:r>
                      <a:endParaRPr sz="16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u="none" cap="none" strike="noStrike"/>
                        <a:t>Integración y validación</a:t>
                      </a:r>
                      <a:endParaRPr sz="16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u="none" cap="none" strike="noStrike"/>
                        <a:t>Despliegue y cierre</a:t>
                      </a:r>
                      <a:endParaRPr sz="16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0" name="Google Shape;120;p13"/>
          <p:cNvSpPr txBox="1"/>
          <p:nvPr/>
        </p:nvSpPr>
        <p:spPr>
          <a:xfrm>
            <a:off x="3391050" y="1203200"/>
            <a:ext cx="54099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18 Semanas - 3 fases - Desarrollo incremental</a:t>
            </a:r>
            <a:endParaRPr b="0" i="0" sz="1900" u="none" cap="none" strike="noStrik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21" name="Google Shape;121;p13"/>
          <p:cNvSpPr txBox="1"/>
          <p:nvPr/>
        </p:nvSpPr>
        <p:spPr>
          <a:xfrm>
            <a:off x="2476500" y="5475875"/>
            <a:ext cx="7277400" cy="11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Hitos principales: </a:t>
            </a:r>
            <a:endParaRPr b="1" i="0" sz="1800" u="none" cap="none" strike="noStrik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Definicion del MVP  → MVP funcional → Validación </a:t>
            </a:r>
            <a:r>
              <a:rPr lang="en-US" sz="18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con</a:t>
            </a:r>
            <a:r>
              <a:rPr b="0" i="0" lang="en-US" sz="18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usuarios → Versión final </a:t>
            </a:r>
            <a:endParaRPr b="0" i="0" sz="1800" u="none" cap="none" strike="noStrik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818990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9dc9ab2af_1_19"/>
          <p:cNvSpPr txBox="1"/>
          <p:nvPr>
            <p:ph type="title"/>
          </p:nvPr>
        </p:nvSpPr>
        <p:spPr>
          <a:xfrm>
            <a:off x="6096000" y="4527700"/>
            <a:ext cx="5172000" cy="1603200"/>
          </a:xfrm>
          <a:prstGeom prst="rect">
            <a:avLst/>
          </a:prstGeom>
          <a:solidFill>
            <a:srgbClr val="DE3075">
              <a:alpha val="6431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-US" sz="3860">
                <a:solidFill>
                  <a:schemeClr val="lt1"/>
                </a:solidFill>
              </a:rPr>
              <a:t>Factibilidad del proyecto en la asignatura</a:t>
            </a:r>
            <a:endParaRPr sz="386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9d9a4e2e0_1_81"/>
          <p:cNvSpPr txBox="1"/>
          <p:nvPr>
            <p:ph type="title"/>
          </p:nvPr>
        </p:nvSpPr>
        <p:spPr>
          <a:xfrm>
            <a:off x="3287699" y="212725"/>
            <a:ext cx="4288200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60000"/>
              <a:buNone/>
            </a:pPr>
            <a:r>
              <a:rPr lang="en-US"/>
              <a:t>Viabilidad Temporal y recursos</a:t>
            </a:r>
            <a:endParaRPr/>
          </a:p>
        </p:txBody>
      </p:sp>
      <p:sp>
        <p:nvSpPr>
          <p:cNvPr id="132" name="Google Shape;132;g3f9d9a4e2e0_1_81"/>
          <p:cNvSpPr txBox="1"/>
          <p:nvPr/>
        </p:nvSpPr>
        <p:spPr>
          <a:xfrm>
            <a:off x="2126450" y="1240525"/>
            <a:ext cx="7508400" cy="18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Lato"/>
              <a:buChar char="●"/>
            </a:pPr>
            <a:r>
              <a:rPr b="1" i="0" lang="en-US" sz="19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Planificación temporal</a:t>
            </a:r>
            <a:r>
              <a:rPr b="0" i="0" lang="en-US" sz="17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0" i="0" sz="17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1" marL="91440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○"/>
            </a:pPr>
            <a:r>
              <a:rPr b="0" i="0" lang="en-US" sz="17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18 semanas lectivas</a:t>
            </a:r>
            <a:endParaRPr b="0" i="0" sz="17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1" marL="91440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○"/>
            </a:pPr>
            <a:r>
              <a:rPr b="0" i="0" lang="en-US" sz="17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3,5 horas pedagógicas semanales</a:t>
            </a:r>
            <a:endParaRPr b="0" i="0" sz="17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1" marL="91440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○"/>
            </a:pPr>
            <a:r>
              <a:rPr b="0" i="0" lang="en-US" sz="17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Scenario: Trabajo autónomo de 20h con práctica</a:t>
            </a:r>
            <a:endParaRPr b="0" i="0" sz="17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1" marL="91440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○"/>
            </a:pPr>
            <a:r>
              <a:rPr b="0" i="0" lang="en-US" sz="17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720h teóricas → Factor de disponibilidad 85% - 75%: 612h - 540h</a:t>
            </a:r>
            <a:endParaRPr b="0" i="0" sz="17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1" marL="91440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○"/>
            </a:pPr>
            <a:r>
              <a:rPr b="0" i="0" lang="en-US" sz="17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Implementación de actividades paralelas, Agile Kanban</a:t>
            </a:r>
            <a:endParaRPr b="0" i="0" sz="17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818990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33" name="Google Shape;133;g3f9d9a4e2e0_1_81"/>
          <p:cNvSpPr txBox="1"/>
          <p:nvPr/>
        </p:nvSpPr>
        <p:spPr>
          <a:xfrm>
            <a:off x="2187450" y="3435265"/>
            <a:ext cx="7817100" cy="3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9049" lvl="0" marL="269999" marR="0" rtl="0" algn="l">
              <a:lnSpc>
                <a:spcPct val="107916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Lato"/>
              <a:buChar char="●"/>
            </a:pPr>
            <a:r>
              <a:rPr b="1" i="0" lang="en-US" sz="19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Materiales y artefactos</a:t>
            </a:r>
            <a:endParaRPr b="1" i="0" sz="1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1" marL="45000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AutoNum type="arabicPeriod"/>
            </a:pPr>
            <a:r>
              <a:rPr b="0" i="0" lang="en-US" sz="17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Fase de Levantamiento y Diseño: </a:t>
            </a:r>
            <a:endParaRPr b="0" i="0" sz="17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2" marL="1371600" marR="0" rtl="0" algn="l">
              <a:lnSpc>
                <a:spcPct val="107916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■"/>
            </a:pPr>
            <a:r>
              <a:rPr b="0" i="0" lang="en-US" sz="17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Encuestas a estudiantes y docentes: 30h - 40h</a:t>
            </a:r>
            <a:endParaRPr b="0" i="0" sz="17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2" marL="1371600" marR="0" rtl="0" algn="l">
              <a:lnSpc>
                <a:spcPct val="107916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■"/>
            </a:pPr>
            <a:r>
              <a:rPr b="0" i="0" lang="en-US" sz="17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Diseño de interfaz de usuario: 50h - 70h</a:t>
            </a:r>
            <a:endParaRPr b="0" i="0" sz="17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2" marL="1371600" marR="0" rtl="0" algn="l">
              <a:lnSpc>
                <a:spcPct val="107916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■"/>
            </a:pPr>
            <a:r>
              <a:rPr b="0" i="0" lang="en-US" sz="17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Documento de Arquitectura de Software (DAS) bajo el Modelo 4+1: 40h - 60h</a:t>
            </a:r>
            <a:endParaRPr b="0" i="0" sz="17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1" marL="450000" marR="0" rtl="0" algn="l">
              <a:lnSpc>
                <a:spcPct val="107916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AutoNum type="arabicPeriod"/>
            </a:pPr>
            <a:r>
              <a:rPr b="0" i="0" lang="en-US" sz="17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Fase de Construcción y Entrega: </a:t>
            </a:r>
            <a:endParaRPr b="0" i="0" sz="17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2" marL="137160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■"/>
            </a:pPr>
            <a:r>
              <a:rPr b="0" i="0" lang="en-US" sz="17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MVP v0.x: 180h - 220h </a:t>
            </a:r>
            <a:endParaRPr b="0" i="0" sz="17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2" marL="137160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■"/>
            </a:pPr>
            <a:r>
              <a:rPr b="0" i="0" lang="en-US" sz="17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Producto final integrado MVP v1.0: 100h - 140 h</a:t>
            </a:r>
            <a:endParaRPr b="0" i="0" sz="2500" u="none" cap="none" strike="noStrike">
              <a:solidFill>
                <a:srgbClr val="818990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9d9a4e2e0_1_87"/>
          <p:cNvSpPr txBox="1"/>
          <p:nvPr>
            <p:ph type="title"/>
          </p:nvPr>
        </p:nvSpPr>
        <p:spPr>
          <a:xfrm>
            <a:off x="3287699" y="212725"/>
            <a:ext cx="4288200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n-US"/>
              <a:t>Factores externos</a:t>
            </a:r>
            <a:endParaRPr/>
          </a:p>
        </p:txBody>
      </p:sp>
      <p:sp>
        <p:nvSpPr>
          <p:cNvPr id="139" name="Google Shape;139;g3f9d9a4e2e0_1_87"/>
          <p:cNvSpPr txBox="1"/>
          <p:nvPr/>
        </p:nvSpPr>
        <p:spPr>
          <a:xfrm>
            <a:off x="1691150" y="1133450"/>
            <a:ext cx="8521500" cy="5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AutoNum type="arabicPeriod"/>
            </a:pPr>
            <a:r>
              <a:rPr b="1" i="0" lang="en-US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Facilitadores:</a:t>
            </a:r>
            <a:endParaRPr b="1" i="0" sz="20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914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●"/>
            </a:pPr>
            <a:r>
              <a:rPr i="0" lang="en-US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Aplicación de encuestas →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información </a:t>
            </a:r>
            <a:r>
              <a:rPr i="0" lang="en-US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para toma de requerimientos y pruebas de usuario</a:t>
            </a:r>
            <a:endParaRPr i="0" sz="18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914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●"/>
            </a:pPr>
            <a:r>
              <a:rPr i="0" lang="en-US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Información →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Dimensión </a:t>
            </a:r>
            <a:r>
              <a:rPr i="0" lang="en-US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 la problemática y delimitar el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alcance</a:t>
            </a:r>
            <a:endParaRPr b="1" i="0" sz="18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914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●"/>
            </a:pPr>
            <a:r>
              <a:rPr i="0" lang="en-US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Alcance →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Seleccionar </a:t>
            </a:r>
            <a:r>
              <a:rPr i="0" lang="en-US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participantes → Toma de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requerimientos </a:t>
            </a:r>
            <a:r>
              <a:rPr i="0" lang="en-US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→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Pruebas de usuario</a:t>
            </a:r>
            <a:endParaRPr b="1" i="0" sz="18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914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Apoyo docente </a:t>
            </a:r>
            <a:r>
              <a:rPr i="0" lang="en-US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 institucional →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Orientación </a:t>
            </a:r>
            <a:r>
              <a:rPr i="0" lang="en-US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para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validación </a:t>
            </a:r>
            <a:r>
              <a:rPr i="0" lang="en-US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funcional</a:t>
            </a:r>
            <a:endParaRPr i="0" sz="18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914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●"/>
            </a:pPr>
            <a:r>
              <a:rPr i="0" lang="en-US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Validación y criterios →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Definir asignaturas críticas y reglas de escalamiento</a:t>
            </a:r>
            <a:endParaRPr i="0" sz="18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i="0" sz="2400" u="none" cap="none" strike="noStrike">
              <a:solidFill>
                <a:srgbClr val="81899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9d9a4e2e0_1_102"/>
          <p:cNvSpPr txBox="1"/>
          <p:nvPr>
            <p:ph type="title"/>
          </p:nvPr>
        </p:nvSpPr>
        <p:spPr>
          <a:xfrm>
            <a:off x="3287699" y="212725"/>
            <a:ext cx="4288200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n-US"/>
              <a:t>Factores externos</a:t>
            </a:r>
            <a:endParaRPr/>
          </a:p>
        </p:txBody>
      </p:sp>
      <p:sp>
        <p:nvSpPr>
          <p:cNvPr id="145" name="Google Shape;145;g3f9d9a4e2e0_1_102"/>
          <p:cNvSpPr txBox="1"/>
          <p:nvPr/>
        </p:nvSpPr>
        <p:spPr>
          <a:xfrm>
            <a:off x="1691150" y="1133450"/>
            <a:ext cx="8521500" cy="5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AutoNum type="arabicPeriod"/>
            </a:pPr>
            <a:r>
              <a:rPr b="1" i="0" lang="en-US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Limitantes y Estrategias de Mitigación:</a:t>
            </a:r>
            <a:endParaRPr b="1" i="0" sz="20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ato"/>
              <a:buAutoNum type="romanLcPeriod"/>
            </a:pPr>
            <a:r>
              <a:rPr i="0" lang="en-US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Falta de cliente institucional formal y métricas centralizadas.</a:t>
            </a:r>
            <a:endParaRPr i="0" sz="18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2" marL="1371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ato"/>
              <a:buChar char="✓"/>
            </a:pPr>
            <a:r>
              <a:rPr i="0" lang="en-US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Encuestas cualitativas y cuantitativas (escala Likert) a estudiantes y profesores </a:t>
            </a:r>
            <a:endParaRPr i="0" sz="18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2" marL="1371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ato"/>
              <a:buChar char="✓"/>
            </a:pPr>
            <a:r>
              <a:rPr i="0" lang="en-US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Complementar con revisión bibliográfica de estudios nacionales sobre retención académica y deserción universitaria.</a:t>
            </a:r>
            <a:endParaRPr i="0" sz="18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1" marL="914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AutoNum type="romanLcPeriod"/>
            </a:pPr>
            <a:r>
              <a:rPr b="1" i="0" lang="en-US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Ley chilena de Protección y Tratamiento de Datos Personales en vigencia en Diciembre 2026</a:t>
            </a:r>
            <a:endParaRPr b="1" i="0" sz="20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2" marL="1371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ato"/>
              <a:buChar char="✓"/>
            </a:pPr>
            <a:r>
              <a:rPr i="0" lang="en-US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Gestionar el </a:t>
            </a:r>
            <a:r>
              <a:rPr lang="en-US" sz="1800">
                <a:latin typeface="Lato"/>
                <a:ea typeface="Lato"/>
                <a:cs typeface="Lato"/>
                <a:sym typeface="Lato"/>
              </a:rPr>
              <a:t>ciclo</a:t>
            </a:r>
            <a:r>
              <a:rPr i="0" lang="en-US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de vida del dato</a:t>
            </a:r>
            <a:endParaRPr i="0" sz="18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2" marL="1371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ato"/>
              <a:buChar char="✓"/>
            </a:pPr>
            <a:r>
              <a:rPr i="0" lang="en-US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Control de acceso estricto por roles</a:t>
            </a:r>
            <a:endParaRPr i="0" sz="18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2" marL="1371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ato"/>
              <a:buChar char="✓"/>
            </a:pPr>
            <a:r>
              <a:rPr i="0" lang="en-US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Políticas claras de retención y consentimiento informado para registro de usuario</a:t>
            </a:r>
            <a:endParaRPr i="0" sz="18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818990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9dc9ab2af_1_24"/>
          <p:cNvSpPr txBox="1"/>
          <p:nvPr>
            <p:ph type="title"/>
          </p:nvPr>
        </p:nvSpPr>
        <p:spPr>
          <a:xfrm>
            <a:off x="6096000" y="4527700"/>
            <a:ext cx="5172000" cy="1603200"/>
          </a:xfrm>
          <a:prstGeom prst="rect">
            <a:avLst/>
          </a:prstGeom>
          <a:solidFill>
            <a:srgbClr val="DE3075">
              <a:alpha val="6431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>
                <a:solidFill>
                  <a:schemeClr val="lt1"/>
                </a:solidFill>
              </a:rPr>
              <a:t>Evidencias esperadas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"/>
          <p:cNvSpPr txBox="1"/>
          <p:nvPr>
            <p:ph type="title"/>
          </p:nvPr>
        </p:nvSpPr>
        <p:spPr>
          <a:xfrm>
            <a:off x="3287700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n-US"/>
              <a:t>Evidencias Esperadas del Proyecto</a:t>
            </a:r>
            <a:endParaRPr/>
          </a:p>
        </p:txBody>
      </p:sp>
      <p:pic>
        <p:nvPicPr>
          <p:cNvPr id="156" name="Google Shape;15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4093696"/>
            <a:ext cx="10122407" cy="2926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7" name="Google Shape;157;p15"/>
          <p:cNvGrpSpPr/>
          <p:nvPr/>
        </p:nvGrpSpPr>
        <p:grpSpPr>
          <a:xfrm>
            <a:off x="740760" y="3939588"/>
            <a:ext cx="2227500" cy="2817237"/>
            <a:chOff x="1594200" y="3939588"/>
            <a:chExt cx="2227500" cy="2817237"/>
          </a:xfrm>
        </p:grpSpPr>
        <p:grpSp>
          <p:nvGrpSpPr>
            <p:cNvPr id="158" name="Google Shape;158;p15"/>
            <p:cNvGrpSpPr/>
            <p:nvPr/>
          </p:nvGrpSpPr>
          <p:grpSpPr>
            <a:xfrm>
              <a:off x="1594200" y="4421325"/>
              <a:ext cx="2227500" cy="2335500"/>
              <a:chOff x="232200" y="4325400"/>
              <a:chExt cx="2227500" cy="2335500"/>
            </a:xfrm>
          </p:grpSpPr>
          <p:sp>
            <p:nvSpPr>
              <p:cNvPr id="159" name="Google Shape;159;p15"/>
              <p:cNvSpPr/>
              <p:nvPr/>
            </p:nvSpPr>
            <p:spPr>
              <a:xfrm>
                <a:off x="232200" y="4325400"/>
                <a:ext cx="2227500" cy="2335500"/>
              </a:xfrm>
              <a:prstGeom prst="roundRect">
                <a:avLst>
                  <a:gd fmla="val 16667" name="adj"/>
                </a:avLst>
              </a:prstGeom>
              <a:solidFill>
                <a:srgbClr val="FFFFFF">
                  <a:alpha val="80000"/>
                </a:srgbClr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Franklin Gothic"/>
                  <a:ea typeface="Franklin Gothic"/>
                  <a:cs typeface="Franklin Gothic"/>
                  <a:sym typeface="Franklin Gothic"/>
                </a:endParaRPr>
              </a:p>
            </p:txBody>
          </p:sp>
          <p:grpSp>
            <p:nvGrpSpPr>
              <p:cNvPr id="160" name="Google Shape;160;p15"/>
              <p:cNvGrpSpPr/>
              <p:nvPr/>
            </p:nvGrpSpPr>
            <p:grpSpPr>
              <a:xfrm>
                <a:off x="348951" y="4487431"/>
                <a:ext cx="1979114" cy="2173469"/>
                <a:chOff x="348951" y="4487431"/>
                <a:chExt cx="1979114" cy="2173469"/>
              </a:xfrm>
            </p:grpSpPr>
            <p:sp>
              <p:nvSpPr>
                <p:cNvPr id="161" name="Google Shape;161;p15"/>
                <p:cNvSpPr/>
                <p:nvPr/>
              </p:nvSpPr>
              <p:spPr>
                <a:xfrm>
                  <a:off x="348951" y="4487431"/>
                  <a:ext cx="1979114" cy="405000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74FF00">
                    <a:alpha val="59608"/>
                  </a:srgbClr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i="0" lang="en-US" sz="1400" u="none" cap="none" strike="noStrike">
                      <a:solidFill>
                        <a:srgbClr val="346708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Documento</a:t>
                  </a:r>
                  <a:endParaRPr b="1" i="0" sz="1400" u="none" cap="none" strike="noStrike">
                    <a:solidFill>
                      <a:srgbClr val="346708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62" name="Google Shape;162;p15"/>
                <p:cNvSpPr txBox="1"/>
                <p:nvPr/>
              </p:nvSpPr>
              <p:spPr>
                <a:xfrm>
                  <a:off x="374500" y="5040900"/>
                  <a:ext cx="1930500" cy="513000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548DD4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i="0" lang="en-US" sz="1600" u="none" cap="none" strike="noStrike">
                      <a:solidFill>
                        <a:srgbClr val="4A86E8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Fase 1: Definición</a:t>
                  </a:r>
                  <a:endParaRPr b="1" i="0" sz="1600" u="none" cap="none" strike="noStrike">
                    <a:solidFill>
                      <a:srgbClr val="4A86E8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63" name="Google Shape;163;p15"/>
                <p:cNvSpPr txBox="1"/>
                <p:nvPr/>
              </p:nvSpPr>
              <p:spPr>
                <a:xfrm>
                  <a:off x="374500" y="5675400"/>
                  <a:ext cx="1930500" cy="985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200" u="none" cap="none" strike="noStrike">
                      <a:solidFill>
                        <a:srgbClr val="475569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Descripción, Estructuración y Planificación inicial del proyecto APT</a:t>
                  </a:r>
                  <a:endParaRPr b="0" i="0" sz="1200" u="none" cap="none" strike="noStrike">
                    <a:solidFill>
                      <a:srgbClr val="475569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</p:grpSp>
        <p:sp>
          <p:nvSpPr>
            <p:cNvPr id="164" name="Google Shape;164;p15"/>
            <p:cNvSpPr/>
            <p:nvPr/>
          </p:nvSpPr>
          <p:spPr>
            <a:xfrm>
              <a:off x="2488500" y="3939588"/>
              <a:ext cx="438900" cy="337500"/>
            </a:xfrm>
            <a:prstGeom prst="flowChartConnector">
              <a:avLst/>
            </a:prstGeom>
            <a:gradFill>
              <a:gsLst>
                <a:gs pos="0">
                  <a:srgbClr val="DCECD5"/>
                </a:gs>
                <a:gs pos="100000">
                  <a:srgbClr val="92BC81"/>
                </a:gs>
              </a:gsLst>
              <a:lin ang="5400012" scaled="0"/>
            </a:gra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Franklin Gothic"/>
                <a:ea typeface="Franklin Gothic"/>
                <a:cs typeface="Franklin Gothic"/>
                <a:sym typeface="Franklin Gothic"/>
              </a:endParaRPr>
            </a:p>
          </p:txBody>
        </p:sp>
      </p:grpSp>
      <p:grpSp>
        <p:nvGrpSpPr>
          <p:cNvPr id="165" name="Google Shape;165;p15"/>
          <p:cNvGrpSpPr/>
          <p:nvPr/>
        </p:nvGrpSpPr>
        <p:grpSpPr>
          <a:xfrm>
            <a:off x="2833305" y="1569275"/>
            <a:ext cx="2227500" cy="2707825"/>
            <a:chOff x="3336225" y="1569275"/>
            <a:chExt cx="2227500" cy="2707825"/>
          </a:xfrm>
        </p:grpSpPr>
        <p:sp>
          <p:nvSpPr>
            <p:cNvPr id="166" name="Google Shape;166;p15"/>
            <p:cNvSpPr/>
            <p:nvPr/>
          </p:nvSpPr>
          <p:spPr>
            <a:xfrm>
              <a:off x="4230525" y="3939600"/>
              <a:ext cx="438900" cy="337500"/>
            </a:xfrm>
            <a:prstGeom prst="flowChartConnector">
              <a:avLst/>
            </a:prstGeom>
            <a:gradFill>
              <a:gsLst>
                <a:gs pos="0">
                  <a:srgbClr val="D4E5F5"/>
                </a:gs>
                <a:gs pos="100000">
                  <a:srgbClr val="70A4D5"/>
                </a:gs>
              </a:gsLst>
              <a:lin ang="5400012" scaled="0"/>
            </a:gra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Franklin Gothic"/>
                <a:ea typeface="Franklin Gothic"/>
                <a:cs typeface="Franklin Gothic"/>
                <a:sym typeface="Franklin Gothic"/>
              </a:endParaRPr>
            </a:p>
          </p:txBody>
        </p:sp>
        <p:grpSp>
          <p:nvGrpSpPr>
            <p:cNvPr id="167" name="Google Shape;167;p15"/>
            <p:cNvGrpSpPr/>
            <p:nvPr/>
          </p:nvGrpSpPr>
          <p:grpSpPr>
            <a:xfrm>
              <a:off x="3336225" y="1569275"/>
              <a:ext cx="2227500" cy="2335500"/>
              <a:chOff x="232200" y="4325400"/>
              <a:chExt cx="2227500" cy="2335500"/>
            </a:xfrm>
          </p:grpSpPr>
          <p:sp>
            <p:nvSpPr>
              <p:cNvPr id="168" name="Google Shape;168;p15"/>
              <p:cNvSpPr/>
              <p:nvPr/>
            </p:nvSpPr>
            <p:spPr>
              <a:xfrm>
                <a:off x="232200" y="4325400"/>
                <a:ext cx="2227500" cy="2335500"/>
              </a:xfrm>
              <a:prstGeom prst="roundRect">
                <a:avLst>
                  <a:gd fmla="val 16667" name="adj"/>
                </a:avLst>
              </a:prstGeom>
              <a:solidFill>
                <a:srgbClr val="FFFFFF">
                  <a:alpha val="80000"/>
                </a:srgbClr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Franklin Gothic"/>
                  <a:ea typeface="Franklin Gothic"/>
                  <a:cs typeface="Franklin Gothic"/>
                  <a:sym typeface="Franklin Gothic"/>
                </a:endParaRPr>
              </a:p>
            </p:txBody>
          </p:sp>
          <p:grpSp>
            <p:nvGrpSpPr>
              <p:cNvPr id="169" name="Google Shape;169;p15"/>
              <p:cNvGrpSpPr/>
              <p:nvPr/>
            </p:nvGrpSpPr>
            <p:grpSpPr>
              <a:xfrm>
                <a:off x="348951" y="4487431"/>
                <a:ext cx="1979100" cy="2173469"/>
                <a:chOff x="348951" y="4487431"/>
                <a:chExt cx="1979100" cy="2173469"/>
              </a:xfrm>
            </p:grpSpPr>
            <p:sp>
              <p:nvSpPr>
                <p:cNvPr id="170" name="Google Shape;170;p15"/>
                <p:cNvSpPr/>
                <p:nvPr/>
              </p:nvSpPr>
              <p:spPr>
                <a:xfrm>
                  <a:off x="348951" y="4487431"/>
                  <a:ext cx="1979100" cy="405000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548DD4">
                    <a:alpha val="50196"/>
                  </a:srgbClr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i="0" lang="en-US" sz="1400" u="none" cap="none" strike="noStrike">
                      <a:solidFill>
                        <a:srgbClr val="0C3E7C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Artefacto</a:t>
                  </a:r>
                  <a:endParaRPr b="1" i="0" sz="1400" u="none" cap="none" strike="noStrike">
                    <a:solidFill>
                      <a:srgbClr val="0C3E7C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71" name="Google Shape;171;p15"/>
                <p:cNvSpPr txBox="1"/>
                <p:nvPr/>
              </p:nvSpPr>
              <p:spPr>
                <a:xfrm>
                  <a:off x="374500" y="5040900"/>
                  <a:ext cx="1930500" cy="690600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548DD4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i="0" lang="en-US" sz="1600" u="none" cap="none" strike="noStrike">
                      <a:solidFill>
                        <a:srgbClr val="4A86E8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Diseño Arquitectónico</a:t>
                  </a:r>
                  <a:endParaRPr b="1" i="0" sz="1600" u="none" cap="none" strike="noStrike">
                    <a:solidFill>
                      <a:srgbClr val="4A86E8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72" name="Google Shape;172;p15"/>
                <p:cNvSpPr txBox="1"/>
                <p:nvPr/>
              </p:nvSpPr>
              <p:spPr>
                <a:xfrm>
                  <a:off x="374500" y="5675400"/>
                  <a:ext cx="1930500" cy="985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200" u="none" cap="none" strike="noStrike">
                      <a:solidFill>
                        <a:srgbClr val="475569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Construcción Modelo 4+1: Vista Lógica, Procesos, Escenarios, Física y Despliegue</a:t>
                  </a:r>
                  <a:endParaRPr b="0" i="0" sz="1200" u="none" cap="none" strike="noStrike">
                    <a:solidFill>
                      <a:srgbClr val="475569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200" u="none" cap="none" strike="noStrike">
                    <a:solidFill>
                      <a:srgbClr val="475569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200" u="none" cap="none" strike="noStrike">
                    <a:solidFill>
                      <a:srgbClr val="475569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</p:grpSp>
      </p:grpSp>
      <p:grpSp>
        <p:nvGrpSpPr>
          <p:cNvPr id="173" name="Google Shape;173;p15"/>
          <p:cNvGrpSpPr/>
          <p:nvPr/>
        </p:nvGrpSpPr>
        <p:grpSpPr>
          <a:xfrm>
            <a:off x="4997250" y="3939563"/>
            <a:ext cx="2227500" cy="2817262"/>
            <a:chOff x="4997250" y="3939563"/>
            <a:chExt cx="2227500" cy="2817262"/>
          </a:xfrm>
        </p:grpSpPr>
        <p:sp>
          <p:nvSpPr>
            <p:cNvPr id="174" name="Google Shape;174;p15"/>
            <p:cNvSpPr/>
            <p:nvPr/>
          </p:nvSpPr>
          <p:spPr>
            <a:xfrm>
              <a:off x="5891550" y="3939563"/>
              <a:ext cx="438900" cy="337500"/>
            </a:xfrm>
            <a:prstGeom prst="flowChartConnector">
              <a:avLst/>
            </a:prstGeom>
            <a:gradFill>
              <a:gsLst>
                <a:gs pos="0">
                  <a:srgbClr val="1076D2"/>
                </a:gs>
                <a:gs pos="100000">
                  <a:srgbClr val="09305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Franklin Gothic"/>
                <a:ea typeface="Franklin Gothic"/>
                <a:cs typeface="Franklin Gothic"/>
                <a:sym typeface="Franklin Gothic"/>
              </a:endParaRPr>
            </a:p>
          </p:txBody>
        </p:sp>
        <p:grpSp>
          <p:nvGrpSpPr>
            <p:cNvPr id="175" name="Google Shape;175;p15"/>
            <p:cNvGrpSpPr/>
            <p:nvPr/>
          </p:nvGrpSpPr>
          <p:grpSpPr>
            <a:xfrm>
              <a:off x="4997250" y="4421325"/>
              <a:ext cx="2227500" cy="2335500"/>
              <a:chOff x="232200" y="4325400"/>
              <a:chExt cx="2227500" cy="2335500"/>
            </a:xfrm>
          </p:grpSpPr>
          <p:sp>
            <p:nvSpPr>
              <p:cNvPr id="176" name="Google Shape;176;p15"/>
              <p:cNvSpPr/>
              <p:nvPr/>
            </p:nvSpPr>
            <p:spPr>
              <a:xfrm>
                <a:off x="232200" y="4325400"/>
                <a:ext cx="2227500" cy="2335500"/>
              </a:xfrm>
              <a:prstGeom prst="roundRect">
                <a:avLst>
                  <a:gd fmla="val 16667" name="adj"/>
                </a:avLst>
              </a:prstGeom>
              <a:solidFill>
                <a:srgbClr val="FFFFFF">
                  <a:alpha val="80000"/>
                </a:srgbClr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Franklin Gothic"/>
                  <a:ea typeface="Franklin Gothic"/>
                  <a:cs typeface="Franklin Gothic"/>
                  <a:sym typeface="Franklin Gothic"/>
                </a:endParaRPr>
              </a:p>
            </p:txBody>
          </p:sp>
          <p:grpSp>
            <p:nvGrpSpPr>
              <p:cNvPr id="177" name="Google Shape;177;p15"/>
              <p:cNvGrpSpPr/>
              <p:nvPr/>
            </p:nvGrpSpPr>
            <p:grpSpPr>
              <a:xfrm>
                <a:off x="348951" y="4487431"/>
                <a:ext cx="1979100" cy="2173469"/>
                <a:chOff x="348951" y="4487431"/>
                <a:chExt cx="1979100" cy="2173469"/>
              </a:xfrm>
            </p:grpSpPr>
            <p:sp>
              <p:nvSpPr>
                <p:cNvPr id="178" name="Google Shape;178;p15"/>
                <p:cNvSpPr/>
                <p:nvPr/>
              </p:nvSpPr>
              <p:spPr>
                <a:xfrm>
                  <a:off x="348951" y="4487431"/>
                  <a:ext cx="1979100" cy="405000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FF9900">
                    <a:alpha val="60000"/>
                  </a:srgbClr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i="0" lang="en-US" sz="1400" u="none" cap="none" strike="noStrike">
                      <a:solidFill>
                        <a:srgbClr val="7C4A00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Prototipo</a:t>
                  </a:r>
                  <a:endParaRPr b="1" i="0" sz="1400" u="none" cap="none" strike="noStrike">
                    <a:solidFill>
                      <a:srgbClr val="7C4A00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79" name="Google Shape;179;p15"/>
                <p:cNvSpPr txBox="1"/>
                <p:nvPr/>
              </p:nvSpPr>
              <p:spPr>
                <a:xfrm>
                  <a:off x="374500" y="5040900"/>
                  <a:ext cx="1930500" cy="513000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548DD4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i="0" lang="en-US" sz="1600" u="none" cap="none" strike="noStrike">
                      <a:solidFill>
                        <a:srgbClr val="4A86E8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MVP v0.x (Beta)</a:t>
                  </a:r>
                  <a:endParaRPr b="1" i="0" sz="1600" u="none" cap="none" strike="noStrike">
                    <a:solidFill>
                      <a:srgbClr val="4A86E8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0" sz="1600" u="none" cap="none" strike="noStrike">
                    <a:solidFill>
                      <a:srgbClr val="4A86E8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0" sz="1600" u="none" cap="none" strike="noStrike">
                    <a:solidFill>
                      <a:srgbClr val="4A86E8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80" name="Google Shape;180;p15"/>
                <p:cNvSpPr txBox="1"/>
                <p:nvPr/>
              </p:nvSpPr>
              <p:spPr>
                <a:xfrm>
                  <a:off x="374500" y="5675400"/>
                  <a:ext cx="1930500" cy="985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200" u="none" cap="none" strike="noStrike">
                      <a:solidFill>
                        <a:srgbClr val="475569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Módulos esenciales: Registro por roles, foro y sistema de tutorías</a:t>
                  </a:r>
                  <a:endParaRPr b="0" i="0" sz="1200" u="none" cap="none" strike="noStrike">
                    <a:solidFill>
                      <a:srgbClr val="475569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200" u="none" cap="none" strike="noStrike">
                    <a:solidFill>
                      <a:srgbClr val="475569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200" u="none" cap="none" strike="noStrike">
                    <a:solidFill>
                      <a:srgbClr val="475569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</p:grpSp>
      </p:grpSp>
      <p:grpSp>
        <p:nvGrpSpPr>
          <p:cNvPr id="181" name="Google Shape;181;p15"/>
          <p:cNvGrpSpPr/>
          <p:nvPr/>
        </p:nvGrpSpPr>
        <p:grpSpPr>
          <a:xfrm>
            <a:off x="8882125" y="3939588"/>
            <a:ext cx="2227500" cy="2817237"/>
            <a:chOff x="8165850" y="3939588"/>
            <a:chExt cx="2227500" cy="2817237"/>
          </a:xfrm>
        </p:grpSpPr>
        <p:sp>
          <p:nvSpPr>
            <p:cNvPr id="182" name="Google Shape;182;p15"/>
            <p:cNvSpPr/>
            <p:nvPr/>
          </p:nvSpPr>
          <p:spPr>
            <a:xfrm>
              <a:off x="9060150" y="3939588"/>
              <a:ext cx="438900" cy="337500"/>
            </a:xfrm>
            <a:prstGeom prst="flowChartConnector">
              <a:avLst/>
            </a:prstGeom>
            <a:gradFill>
              <a:gsLst>
                <a:gs pos="0">
                  <a:srgbClr val="DCECD5"/>
                </a:gs>
                <a:gs pos="100000">
                  <a:srgbClr val="92BC81"/>
                </a:gs>
              </a:gsLst>
              <a:lin ang="5400012" scaled="0"/>
            </a:gra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Franklin Gothic"/>
                <a:ea typeface="Franklin Gothic"/>
                <a:cs typeface="Franklin Gothic"/>
                <a:sym typeface="Franklin Gothic"/>
              </a:endParaRPr>
            </a:p>
          </p:txBody>
        </p:sp>
        <p:grpSp>
          <p:nvGrpSpPr>
            <p:cNvPr id="183" name="Google Shape;183;p15"/>
            <p:cNvGrpSpPr/>
            <p:nvPr/>
          </p:nvGrpSpPr>
          <p:grpSpPr>
            <a:xfrm>
              <a:off x="8165850" y="4421325"/>
              <a:ext cx="2227500" cy="2335500"/>
              <a:chOff x="232200" y="4325400"/>
              <a:chExt cx="2227500" cy="2335500"/>
            </a:xfrm>
          </p:grpSpPr>
          <p:sp>
            <p:nvSpPr>
              <p:cNvPr id="184" name="Google Shape;184;p15"/>
              <p:cNvSpPr/>
              <p:nvPr/>
            </p:nvSpPr>
            <p:spPr>
              <a:xfrm>
                <a:off x="232200" y="4325400"/>
                <a:ext cx="2227500" cy="2335500"/>
              </a:xfrm>
              <a:prstGeom prst="roundRect">
                <a:avLst>
                  <a:gd fmla="val 16667" name="adj"/>
                </a:avLst>
              </a:prstGeom>
              <a:solidFill>
                <a:srgbClr val="FFFFFF">
                  <a:alpha val="80000"/>
                </a:srgbClr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Franklin Gothic"/>
                  <a:ea typeface="Franklin Gothic"/>
                  <a:cs typeface="Franklin Gothic"/>
                  <a:sym typeface="Franklin Gothic"/>
                </a:endParaRPr>
              </a:p>
            </p:txBody>
          </p:sp>
          <p:grpSp>
            <p:nvGrpSpPr>
              <p:cNvPr id="185" name="Google Shape;185;p15"/>
              <p:cNvGrpSpPr/>
              <p:nvPr/>
            </p:nvGrpSpPr>
            <p:grpSpPr>
              <a:xfrm>
                <a:off x="348951" y="4487431"/>
                <a:ext cx="1979100" cy="2173469"/>
                <a:chOff x="348951" y="4487431"/>
                <a:chExt cx="1979100" cy="2173469"/>
              </a:xfrm>
            </p:grpSpPr>
            <p:sp>
              <p:nvSpPr>
                <p:cNvPr id="186" name="Google Shape;186;p15"/>
                <p:cNvSpPr/>
                <p:nvPr/>
              </p:nvSpPr>
              <p:spPr>
                <a:xfrm>
                  <a:off x="348951" y="4487431"/>
                  <a:ext cx="1979100" cy="405000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548DD4">
                    <a:alpha val="50196"/>
                  </a:srgbClr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i="0" lang="en-US" sz="1400" u="none" cap="none" strike="noStrike">
                      <a:solidFill>
                        <a:srgbClr val="0C3E7C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Artefacto</a:t>
                  </a:r>
                  <a:endParaRPr b="0" i="0" sz="1400" u="none" cap="none" strike="noStrike">
                    <a:solidFill>
                      <a:srgbClr val="346708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87" name="Google Shape;187;p15"/>
                <p:cNvSpPr txBox="1"/>
                <p:nvPr/>
              </p:nvSpPr>
              <p:spPr>
                <a:xfrm>
                  <a:off x="374500" y="5040900"/>
                  <a:ext cx="1930500" cy="513000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548DD4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i="0" lang="en-US" sz="1600" u="none" cap="none" strike="noStrike">
                      <a:solidFill>
                        <a:srgbClr val="4A86E8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Plan y Diseño</a:t>
                  </a:r>
                  <a:endParaRPr b="1" i="0" sz="1600" u="none" cap="none" strike="noStrike">
                    <a:solidFill>
                      <a:srgbClr val="4A86E8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88" name="Google Shape;188;p15"/>
                <p:cNvSpPr txBox="1"/>
                <p:nvPr/>
              </p:nvSpPr>
              <p:spPr>
                <a:xfrm>
                  <a:off x="374500" y="5675400"/>
                  <a:ext cx="1930500" cy="985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200" u="none" cap="none" strike="noStrike">
                      <a:solidFill>
                        <a:srgbClr val="475569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Descripción, Estructuración y Planificación completa del proyecto APT</a:t>
                  </a:r>
                  <a:endParaRPr b="0" i="0" sz="1200" u="none" cap="none" strike="noStrike">
                    <a:solidFill>
                      <a:srgbClr val="475569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</p:grpSp>
      </p:grpSp>
      <p:grpSp>
        <p:nvGrpSpPr>
          <p:cNvPr id="189" name="Google Shape;189;p15"/>
          <p:cNvGrpSpPr/>
          <p:nvPr/>
        </p:nvGrpSpPr>
        <p:grpSpPr>
          <a:xfrm>
            <a:off x="6825390" y="1484849"/>
            <a:ext cx="2227500" cy="2792214"/>
            <a:chOff x="6581550" y="1484849"/>
            <a:chExt cx="2227500" cy="2792214"/>
          </a:xfrm>
        </p:grpSpPr>
        <p:sp>
          <p:nvSpPr>
            <p:cNvPr id="190" name="Google Shape;190;p15"/>
            <p:cNvSpPr/>
            <p:nvPr/>
          </p:nvSpPr>
          <p:spPr>
            <a:xfrm>
              <a:off x="7475850" y="3939563"/>
              <a:ext cx="438900" cy="337500"/>
            </a:xfrm>
            <a:prstGeom prst="flowChartConnector">
              <a:avLst/>
            </a:prstGeom>
            <a:gradFill>
              <a:gsLst>
                <a:gs pos="0">
                  <a:srgbClr val="D4E5F5"/>
                </a:gs>
                <a:gs pos="100000">
                  <a:srgbClr val="70A4D5"/>
                </a:gs>
              </a:gsLst>
              <a:lin ang="5400012" scaled="0"/>
            </a:gra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Franklin Gothic"/>
                <a:ea typeface="Franklin Gothic"/>
                <a:cs typeface="Franklin Gothic"/>
                <a:sym typeface="Franklin Gothic"/>
              </a:endParaRPr>
            </a:p>
          </p:txBody>
        </p:sp>
        <p:grpSp>
          <p:nvGrpSpPr>
            <p:cNvPr id="191" name="Google Shape;191;p15"/>
            <p:cNvGrpSpPr/>
            <p:nvPr/>
          </p:nvGrpSpPr>
          <p:grpSpPr>
            <a:xfrm>
              <a:off x="6581550" y="1484849"/>
              <a:ext cx="2227500" cy="2419885"/>
              <a:chOff x="232200" y="4325413"/>
              <a:chExt cx="2227500" cy="2373600"/>
            </a:xfrm>
          </p:grpSpPr>
          <p:sp>
            <p:nvSpPr>
              <p:cNvPr id="192" name="Google Shape;192;p15"/>
              <p:cNvSpPr/>
              <p:nvPr/>
            </p:nvSpPr>
            <p:spPr>
              <a:xfrm>
                <a:off x="232200" y="4325413"/>
                <a:ext cx="2227500" cy="2373600"/>
              </a:xfrm>
              <a:prstGeom prst="roundRect">
                <a:avLst>
                  <a:gd fmla="val 16667" name="adj"/>
                </a:avLst>
              </a:prstGeom>
              <a:solidFill>
                <a:srgbClr val="FFFFFF">
                  <a:alpha val="80000"/>
                </a:srgbClr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Franklin Gothic"/>
                  <a:ea typeface="Franklin Gothic"/>
                  <a:cs typeface="Franklin Gothic"/>
                  <a:sym typeface="Franklin Gothic"/>
                </a:endParaRPr>
              </a:p>
            </p:txBody>
          </p:sp>
          <p:grpSp>
            <p:nvGrpSpPr>
              <p:cNvPr id="193" name="Google Shape;193;p15"/>
              <p:cNvGrpSpPr/>
              <p:nvPr/>
            </p:nvGrpSpPr>
            <p:grpSpPr>
              <a:xfrm>
                <a:off x="348951" y="4487431"/>
                <a:ext cx="1979100" cy="2173469"/>
                <a:chOff x="348951" y="4487431"/>
                <a:chExt cx="1979100" cy="2173469"/>
              </a:xfrm>
            </p:grpSpPr>
            <p:sp>
              <p:nvSpPr>
                <p:cNvPr id="194" name="Google Shape;194;p15"/>
                <p:cNvSpPr txBox="1"/>
                <p:nvPr/>
              </p:nvSpPr>
              <p:spPr>
                <a:xfrm>
                  <a:off x="374500" y="5040914"/>
                  <a:ext cx="1930500" cy="601200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548DD4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i="0" lang="en-US" sz="1600" u="none" cap="none" strike="noStrike">
                      <a:solidFill>
                        <a:srgbClr val="4A86E8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Lanzamiento MVP v1.0</a:t>
                  </a:r>
                  <a:endParaRPr b="1" i="0" sz="1600" u="none" cap="none" strike="noStrike">
                    <a:solidFill>
                      <a:srgbClr val="4A86E8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0" sz="1600" u="none" cap="none" strike="noStrike">
                    <a:solidFill>
                      <a:srgbClr val="4A86E8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0" sz="1600" u="none" cap="none" strike="noStrike">
                    <a:solidFill>
                      <a:srgbClr val="4A86E8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95" name="Google Shape;195;p15"/>
                <p:cNvSpPr txBox="1"/>
                <p:nvPr/>
              </p:nvSpPr>
              <p:spPr>
                <a:xfrm>
                  <a:off x="374500" y="5675400"/>
                  <a:ext cx="1930500" cy="985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200" u="none" cap="none" strike="noStrike">
                      <a:solidFill>
                        <a:srgbClr val="475569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Matching dinámico de tutores, sistema de reputación, app operativa y despliegue en Google Play</a:t>
                  </a:r>
                  <a:endParaRPr b="0" i="0" sz="1200" u="none" cap="none" strike="noStrike">
                    <a:solidFill>
                      <a:srgbClr val="475569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96" name="Google Shape;196;p15"/>
                <p:cNvSpPr/>
                <p:nvPr/>
              </p:nvSpPr>
              <p:spPr>
                <a:xfrm>
                  <a:off x="348951" y="4487431"/>
                  <a:ext cx="1979100" cy="405000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FF9900">
                    <a:alpha val="60000"/>
                  </a:srgbClr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i="0" lang="en-US" sz="1400" u="none" cap="none" strike="noStrike">
                      <a:solidFill>
                        <a:srgbClr val="7C4A00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Producto final</a:t>
                  </a:r>
                  <a:endParaRPr b="0" i="0" sz="1400" u="none" cap="none" strike="noStrike">
                    <a:solidFill>
                      <a:srgbClr val="346708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</p:grpSp>
      </p:grpSp>
      <p:sp>
        <p:nvSpPr>
          <p:cNvPr id="197" name="Google Shape;197;p15"/>
          <p:cNvSpPr txBox="1"/>
          <p:nvPr/>
        </p:nvSpPr>
        <p:spPr>
          <a:xfrm>
            <a:off x="618150" y="1077450"/>
            <a:ext cx="88809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Línea de Entregas: Proyecto EntrePares</a:t>
            </a:r>
            <a:endParaRPr b="0" i="0" sz="2400" u="none" cap="none" strike="noStrike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f9dc9ab2af_1_34"/>
          <p:cNvSpPr txBox="1"/>
          <p:nvPr>
            <p:ph type="title"/>
          </p:nvPr>
        </p:nvSpPr>
        <p:spPr>
          <a:xfrm>
            <a:off x="6096000" y="4527700"/>
            <a:ext cx="5172000" cy="1603200"/>
          </a:xfrm>
          <a:prstGeom prst="rect">
            <a:avLst/>
          </a:prstGeom>
          <a:solidFill>
            <a:srgbClr val="DE3075">
              <a:alpha val="6431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>
                <a:solidFill>
                  <a:schemeClr val="lt1"/>
                </a:solidFill>
              </a:rPr>
              <a:t>Bibliografía y Recursos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9b1df15de_0_22"/>
          <p:cNvSpPr txBox="1"/>
          <p:nvPr>
            <p:ph type="title"/>
          </p:nvPr>
        </p:nvSpPr>
        <p:spPr>
          <a:xfrm>
            <a:off x="3287699" y="212725"/>
            <a:ext cx="4288200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n-US"/>
              <a:t>Recursos</a:t>
            </a:r>
            <a:endParaRPr/>
          </a:p>
        </p:txBody>
      </p:sp>
      <p:sp>
        <p:nvSpPr>
          <p:cNvPr id="208" name="Google Shape;208;g3f9b1df15de_0_22"/>
          <p:cNvSpPr txBox="1"/>
          <p:nvPr/>
        </p:nvSpPr>
        <p:spPr>
          <a:xfrm>
            <a:off x="881700" y="1533932"/>
            <a:ext cx="6694200" cy="14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Lato"/>
              <a:buChar char="●"/>
            </a:pPr>
            <a:r>
              <a:rPr b="0" i="0" lang="en-US" sz="200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Recursos visuales generados y extraídos desde el sitio web oficial de Magnific. </a:t>
            </a:r>
            <a:r>
              <a:rPr b="1" i="0" lang="en-US" sz="200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Referencia:</a:t>
            </a:r>
            <a:r>
              <a:rPr b="0" i="0" lang="en-US" sz="200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 Freepik. (2026). Magnific AI </a:t>
            </a:r>
            <a:r>
              <a:rPr b="0" i="1" lang="en-US" sz="200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[Plataforma de generación visual]</a:t>
            </a:r>
            <a:r>
              <a:rPr b="0" i="0" lang="en-US" sz="200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. Disponible en: https://magnific.ai/</a:t>
            </a:r>
            <a:endParaRPr b="0" i="0" sz="2000" u="none" cap="none" strike="noStrike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09" name="Google Shape;209;g3f9b1df15de_0_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3675" y="3115250"/>
            <a:ext cx="1348499" cy="1348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9dc9ab2af_1_39"/>
          <p:cNvSpPr txBox="1"/>
          <p:nvPr>
            <p:ph type="title"/>
          </p:nvPr>
        </p:nvSpPr>
        <p:spPr>
          <a:xfrm>
            <a:off x="6096000" y="4527700"/>
            <a:ext cx="5172000" cy="1603200"/>
          </a:xfrm>
          <a:prstGeom prst="rect">
            <a:avLst/>
          </a:prstGeom>
          <a:solidFill>
            <a:srgbClr val="DE3075">
              <a:alpha val="6431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>
                <a:solidFill>
                  <a:schemeClr val="lt1"/>
                </a:solidFill>
              </a:rPr>
              <a:t>Preguntas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DUOC 2">
      <a:dk1>
        <a:srgbClr val="172740"/>
      </a:dk1>
      <a:lt1>
        <a:srgbClr val="FFFFFF"/>
      </a:lt1>
      <a:dk2>
        <a:srgbClr val="81888F"/>
      </a:dk2>
      <a:lt2>
        <a:srgbClr val="FBC842"/>
      </a:lt2>
      <a:accent1>
        <a:srgbClr val="DE3075"/>
      </a:accent1>
      <a:accent2>
        <a:srgbClr val="702785"/>
      </a:accent2>
      <a:accent3>
        <a:srgbClr val="BDD503"/>
      </a:accent3>
      <a:accent4>
        <a:srgbClr val="00A0DE"/>
      </a:accent4>
      <a:accent5>
        <a:srgbClr val="FA742C"/>
      </a:accent5>
      <a:accent6>
        <a:srgbClr val="AE0F0F"/>
      </a:accent6>
      <a:hlink>
        <a:srgbClr val="723714"/>
      </a:hlink>
      <a:folHlink>
        <a:srgbClr val="6B79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2020-01-19T17:40:32Z</dcterms:created>
  <dc:creator>Victor Rodrigo Galaz Silva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0x0101006A490DE1D59CF8418FDA5A26334C9654</vt:lpwstr>
  </property>
</Properties>
</file>